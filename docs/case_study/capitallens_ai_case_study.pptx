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f3bea8caa4e05" /><Relationship Type="http://schemas.openxmlformats.org/officeDocument/2006/relationships/extended-properties" Target="/docProps/app.xml" Id="Re57bcdab818342e3" /><Relationship Type="http://schemas.openxmlformats.org/officeDocument/2006/relationships/officeDocument" Target="/ppt/presentation.xml" Id="R790027b5078847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ecf578ae1487a"/>
  </p:sldMasterIdLst>
  <p:notesMasterIdLst>
    <p:notesMasterId xmlns:r="http://schemas.openxmlformats.org/officeDocument/2006/relationships" r:id="Rd122b4efdeae4f79"/>
  </p:notesMasterIdLst>
  <p:sldIdLst>
    <p:sldId xmlns:r="http://schemas.openxmlformats.org/officeDocument/2006/relationships" id="256" r:id="R615c6305926746ce"/>
    <p:sldId xmlns:r="http://schemas.openxmlformats.org/officeDocument/2006/relationships" id="257" r:id="Rb40bcde5d82d4ba7"/>
    <p:sldId xmlns:r="http://schemas.openxmlformats.org/officeDocument/2006/relationships" id="258" r:id="R40a31b3190e5400b"/>
    <p:sldId xmlns:r="http://schemas.openxmlformats.org/officeDocument/2006/relationships" id="259" r:id="R8ecba19385f648f1"/>
    <p:sldId xmlns:r="http://schemas.openxmlformats.org/officeDocument/2006/relationships" id="260" r:id="Re41501c39891450c"/>
    <p:sldId xmlns:r="http://schemas.openxmlformats.org/officeDocument/2006/relationships" id="261" r:id="R58dda409dba642b6"/>
    <p:sldId xmlns:r="http://schemas.openxmlformats.org/officeDocument/2006/relationships" id="262" r:id="Reba43d19bd574b3a"/>
    <p:sldId xmlns:r="http://schemas.openxmlformats.org/officeDocument/2006/relationships" id="263" r:id="R3abac2fb6e8c4dbd"/>
    <p:sldId xmlns:r="http://schemas.openxmlformats.org/officeDocument/2006/relationships" id="264" r:id="R6c6e47b9a25a428b"/>
    <p:sldId xmlns:r="http://schemas.openxmlformats.org/officeDocument/2006/relationships" id="265" r:id="R8884dbfbb0ba49c6"/>
    <p:sldId xmlns:r="http://schemas.openxmlformats.org/officeDocument/2006/relationships" id="266" r:id="R2ec82b27f6254bed"/>
    <p:sldId xmlns:r="http://schemas.openxmlformats.org/officeDocument/2006/relationships" id="267" r:id="R7d49cdbdf20145b7"/>
    <p:sldId xmlns:r="http://schemas.openxmlformats.org/officeDocument/2006/relationships" id="268" r:id="Re84f7c12e9484862"/>
    <p:sldId xmlns:r="http://schemas.openxmlformats.org/officeDocument/2006/relationships" id="269" r:id="R6ebe8e20b9774421"/>
    <p:sldId xmlns:r="http://schemas.openxmlformats.org/officeDocument/2006/relationships" id="270" r:id="R77f193d12abb46fa"/>
    <p:sldId xmlns:r="http://schemas.openxmlformats.org/officeDocument/2006/relationships" id="271" r:id="Ra83c06715743479a"/>
    <p:sldId xmlns:r="http://schemas.openxmlformats.org/officeDocument/2006/relationships" id="272" r:id="R359cab2027c943ba"/>
    <p:sldId xmlns:r="http://schemas.openxmlformats.org/officeDocument/2006/relationships" id="273" r:id="R5413967abbf04bc3"/>
    <p:sldId xmlns:r="http://schemas.openxmlformats.org/officeDocument/2006/relationships" id="274" r:id="Rcec5e5b4337c41c5"/>
    <p:sldId xmlns:r="http://schemas.openxmlformats.org/officeDocument/2006/relationships" id="275" r:id="Ra3ed5eebce5e4f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d12487c6e04f31" /><Relationship Type="http://schemas.openxmlformats.org/officeDocument/2006/relationships/slideMaster" Target="/ppt/slideMasters/slideMaster1.xml" Id="R59eecf578ae1487a" /><Relationship Type="http://schemas.openxmlformats.org/officeDocument/2006/relationships/notesMaster" Target="/ppt/notesMasters/notesMaster1.xml" Id="Rd122b4efdeae4f79" /><Relationship Type="http://schemas.openxmlformats.org/officeDocument/2006/relationships/presProps" Target="/ppt/presProps.xml" Id="R981f0f0e58684f12" /><Relationship Type="http://schemas.openxmlformats.org/officeDocument/2006/relationships/tableStyles" Target="/ppt/tableStyles.xml" Id="R597d394139fe42e2" /><Relationship Type="http://schemas.openxmlformats.org/officeDocument/2006/relationships/slide" Target="/ppt/slides/slide1.xml" Id="R615c6305926746ce" /><Relationship Type="http://schemas.openxmlformats.org/officeDocument/2006/relationships/slide" Target="/ppt/slides/slide2.xml" Id="Rb40bcde5d82d4ba7" /><Relationship Type="http://schemas.openxmlformats.org/officeDocument/2006/relationships/slide" Target="/ppt/slides/slide3.xml" Id="R40a31b3190e5400b" /><Relationship Type="http://schemas.openxmlformats.org/officeDocument/2006/relationships/slide" Target="/ppt/slides/slide4.xml" Id="R8ecba19385f648f1" /><Relationship Type="http://schemas.openxmlformats.org/officeDocument/2006/relationships/slide" Target="/ppt/slides/slide5.xml" Id="Re41501c39891450c" /><Relationship Type="http://schemas.openxmlformats.org/officeDocument/2006/relationships/slide" Target="/ppt/slides/slide6.xml" Id="R58dda409dba642b6" /><Relationship Type="http://schemas.openxmlformats.org/officeDocument/2006/relationships/slide" Target="/ppt/slides/slide7.xml" Id="Reba43d19bd574b3a" /><Relationship Type="http://schemas.openxmlformats.org/officeDocument/2006/relationships/slide" Target="/ppt/slides/slide8.xml" Id="R3abac2fb6e8c4dbd" /><Relationship Type="http://schemas.openxmlformats.org/officeDocument/2006/relationships/slide" Target="/ppt/slides/slide9.xml" Id="R6c6e47b9a25a428b" /><Relationship Type="http://schemas.openxmlformats.org/officeDocument/2006/relationships/slide" Target="/ppt/slides/slide10.xml" Id="R8884dbfbb0ba49c6" /><Relationship Type="http://schemas.openxmlformats.org/officeDocument/2006/relationships/slide" Target="/ppt/slides/slide11.xml" Id="R2ec82b27f6254bed" /><Relationship Type="http://schemas.openxmlformats.org/officeDocument/2006/relationships/slide" Target="/ppt/slides/slide12.xml" Id="R7d49cdbdf20145b7" /><Relationship Type="http://schemas.openxmlformats.org/officeDocument/2006/relationships/slide" Target="/ppt/slides/slide13.xml" Id="Re84f7c12e9484862" /><Relationship Type="http://schemas.openxmlformats.org/officeDocument/2006/relationships/slide" Target="/ppt/slides/slide14.xml" Id="R6ebe8e20b9774421" /><Relationship Type="http://schemas.openxmlformats.org/officeDocument/2006/relationships/slide" Target="/ppt/slides/slide15.xml" Id="R77f193d12abb46fa" /><Relationship Type="http://schemas.openxmlformats.org/officeDocument/2006/relationships/slide" Target="/ppt/slides/slide16.xml" Id="Ra83c06715743479a" /><Relationship Type="http://schemas.openxmlformats.org/officeDocument/2006/relationships/slide" Target="/ppt/slides/slide17.xml" Id="R359cab2027c943ba" /><Relationship Type="http://schemas.openxmlformats.org/officeDocument/2006/relationships/slide" Target="/ppt/slides/slide18.xml" Id="R5413967abbf04bc3" /><Relationship Type="http://schemas.openxmlformats.org/officeDocument/2006/relationships/slide" Target="/ppt/slides/slide19.xml" Id="Rcec5e5b4337c41c5" /><Relationship Type="http://schemas.openxmlformats.org/officeDocument/2006/relationships/slide" Target="/ppt/slides/slide20.xml" Id="Ra3ed5eebce5e4f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f7e672121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1bcd32c769484e" /><Relationship Type="http://schemas.openxmlformats.org/officeDocument/2006/relationships/notesMaster" Target="/ppt/notesMasters/notesMaster1.xml" Id="R8a50b05580cb42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600e8cc5d84e4e" /><Relationship Type="http://schemas.openxmlformats.org/officeDocument/2006/relationships/notesMaster" Target="/ppt/notesMasters/notesMaster1.xml" Id="R66f96d1edd8e49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0d5a1cc1e54437" /><Relationship Type="http://schemas.openxmlformats.org/officeDocument/2006/relationships/notesMaster" Target="/ppt/notesMasters/notesMaster1.xml" Id="Rdc109ed8c8c5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2b56a51fe84415" /><Relationship Type="http://schemas.openxmlformats.org/officeDocument/2006/relationships/notesMaster" Target="/ppt/notesMasters/notesMaster1.xml" Id="R8d1250dd12a548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50c9011eb747ae" /><Relationship Type="http://schemas.openxmlformats.org/officeDocument/2006/relationships/notesMaster" Target="/ppt/notesMasters/notesMaster1.xml" Id="R50b6a4da5d1d42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757339e3254fea" /><Relationship Type="http://schemas.openxmlformats.org/officeDocument/2006/relationships/notesMaster" Target="/ppt/notesMasters/notesMaster1.xml" Id="R45b492893f8b4d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3a7ffbc164998" /><Relationship Type="http://schemas.openxmlformats.org/officeDocument/2006/relationships/notesMaster" Target="/ppt/notesMasters/notesMaster1.xml" Id="R553a664a782642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b70291cb3942f7" /><Relationship Type="http://schemas.openxmlformats.org/officeDocument/2006/relationships/notesMaster" Target="/ppt/notesMasters/notesMaster1.xml" Id="Rb5a249042ee443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a6d3f518844c6d" /><Relationship Type="http://schemas.openxmlformats.org/officeDocument/2006/relationships/notesMaster" Target="/ppt/notesMasters/notesMaster1.xml" Id="Ra035df620b90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be6bb32a4432d" /><Relationship Type="http://schemas.openxmlformats.org/officeDocument/2006/relationships/notesMaster" Target="/ppt/notesMasters/notesMaster1.xml" Id="Rbb71374df2ea4e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6f84d4ad1d4ce3" /><Relationship Type="http://schemas.openxmlformats.org/officeDocument/2006/relationships/notesMaster" Target="/ppt/notesMasters/notesMaster1.xml" Id="R7977453dfccf46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07aafadc194336" /><Relationship Type="http://schemas.openxmlformats.org/officeDocument/2006/relationships/notesMaster" Target="/ppt/notesMasters/notesMaster1.xml" Id="Racc18f30086242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c4e6f5ccbc443a" /><Relationship Type="http://schemas.openxmlformats.org/officeDocument/2006/relationships/notesMaster" Target="/ppt/notesMasters/notesMaster1.xml" Id="R6d9d2e2a365a44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0307c311e74495" /><Relationship Type="http://schemas.openxmlformats.org/officeDocument/2006/relationships/notesMaster" Target="/ppt/notesMasters/notesMaster1.xml" Id="R5ec38bf8f4bf4e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47d5c9f9264988" /><Relationship Type="http://schemas.openxmlformats.org/officeDocument/2006/relationships/notesMaster" Target="/ppt/notesMasters/notesMaster1.xml" Id="R9444a979679645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417121d9784ed8" /><Relationship Type="http://schemas.openxmlformats.org/officeDocument/2006/relationships/notesMaster" Target="/ppt/notesMasters/notesMaster1.xml" Id="Rca2d309eb2614d6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33500b4f114a20" /><Relationship Type="http://schemas.openxmlformats.org/officeDocument/2006/relationships/notesMaster" Target="/ppt/notesMasters/notesMaster1.xml" Id="Rfb75873083c7465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3c9be8292741f5" /><Relationship Type="http://schemas.openxmlformats.org/officeDocument/2006/relationships/notesMaster" Target="/ppt/notesMasters/notesMaster1.xml" Id="R0e148bafb5af44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beb279a14d243db" /><Relationship Type="http://schemas.openxmlformats.org/officeDocument/2006/relationships/notesMaster" Target="/ppt/notesMasters/notesMaster1.xml" Id="R30f23aad2db943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22775e31e64f82" /><Relationship Type="http://schemas.openxmlformats.org/officeDocument/2006/relationships/notesMaster" Target="/ppt/notesMasters/notesMaster1.xml" Id="Raa54a3dc7a15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50ca8359046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fc2e50825e435d" /><Relationship Type="http://schemas.openxmlformats.org/officeDocument/2006/relationships/slideLayout" Target="/ppt/slideLayouts/slideLayout1.xml" Id="R7a16f417525e46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16f417525e46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e9e21f94b4252" /><Relationship Type="http://schemas.openxmlformats.org/officeDocument/2006/relationships/notesSlide" Target="/ppt/notesSlides/notesSlide1.xml" Id="Rbe4909edd13e49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db595acc44674" /><Relationship Type="http://schemas.openxmlformats.org/officeDocument/2006/relationships/notesSlide" Target="/ppt/notesSlides/notesSlide2.xml" Id="Re4c29bfcabb241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a2507cc7b4669" /><Relationship Type="http://schemas.openxmlformats.org/officeDocument/2006/relationships/notesSlide" Target="/ppt/notesSlides/notesSlide3.xml" Id="Ra5429718dffe4d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1a2edae484dce" /><Relationship Type="http://schemas.openxmlformats.org/officeDocument/2006/relationships/notesSlide" Target="/ppt/notesSlides/notesSlide4.xml" Id="Rae471cdc7fc946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dbc2552e8461e" /><Relationship Type="http://schemas.openxmlformats.org/officeDocument/2006/relationships/image" Target="/ppt/media/image.jpeg" Id="R26eddfdfa4024508" /><Relationship Type="http://schemas.openxmlformats.org/officeDocument/2006/relationships/notesSlide" Target="/ppt/notesSlides/notesSlide5.xml" Id="Rd90154cd548946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718e38e514bc6" /><Relationship Type="http://schemas.openxmlformats.org/officeDocument/2006/relationships/notesSlide" Target="/ppt/notesSlides/notesSlide6.xml" Id="R355932f5d3ac41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65643204a426d" /><Relationship Type="http://schemas.openxmlformats.org/officeDocument/2006/relationships/notesSlide" Target="/ppt/notesSlides/notesSlide7.xml" Id="R85eb54346a4447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9c4d0d2d242ff" /><Relationship Type="http://schemas.openxmlformats.org/officeDocument/2006/relationships/notesSlide" Target="/ppt/notesSlides/notesSlide8.xml" Id="R794a9f62c38c45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cda7aae9e45cb" /><Relationship Type="http://schemas.openxmlformats.org/officeDocument/2006/relationships/notesSlide" Target="/ppt/notesSlides/notesSlide9.xml" Id="Rb6d04b6fee0a4f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0502513d54e7f" /><Relationship Type="http://schemas.openxmlformats.org/officeDocument/2006/relationships/notesSlide" Target="/ppt/notesSlides/notesSlide10.xml" Id="Rd93fd54ae6b74d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7d418102c4f98" /><Relationship Type="http://schemas.openxmlformats.org/officeDocument/2006/relationships/notesSlide" Target="/ppt/notesSlides/notesSlide11.xml" Id="R133f63c4412240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bf9c019eb49e9" /><Relationship Type="http://schemas.openxmlformats.org/officeDocument/2006/relationships/notesSlide" Target="/ppt/notesSlides/notesSlide12.xml" Id="R73278dd3821645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8e6cf53194856" /><Relationship Type="http://schemas.openxmlformats.org/officeDocument/2006/relationships/notesSlide" Target="/ppt/notesSlides/notesSlide13.xml" Id="R7e12e791eb2b42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9253d87aa4967" /><Relationship Type="http://schemas.openxmlformats.org/officeDocument/2006/relationships/notesSlide" Target="/ppt/notesSlides/notesSlide14.xml" Id="R97ab7ad663134e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ce499d7624da5" /><Relationship Type="http://schemas.openxmlformats.org/officeDocument/2006/relationships/notesSlide" Target="/ppt/notesSlides/notesSlide15.xml" Id="R4dae3323c85f4e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09026fa6746ef" /><Relationship Type="http://schemas.openxmlformats.org/officeDocument/2006/relationships/notesSlide" Target="/ppt/notesSlides/notesSlide16.xml" Id="R8b7ca9d040fa46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9cbb0b99f4381" /><Relationship Type="http://schemas.openxmlformats.org/officeDocument/2006/relationships/notesSlide" Target="/ppt/notesSlides/notesSlide17.xml" Id="R3ca175b941e4478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ceaaa76f9490e" /><Relationship Type="http://schemas.openxmlformats.org/officeDocument/2006/relationships/notesSlide" Target="/ppt/notesSlides/notesSlide18.xml" Id="R0f6fff0e600d4b0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aa4c42e4b437b" /><Relationship Type="http://schemas.openxmlformats.org/officeDocument/2006/relationships/notesSlide" Target="/ppt/notesSlides/notesSlide19.xml" Id="Rf3ef23cefee14f1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dd8fde52d42da" /><Relationship Type="http://schemas.openxmlformats.org/officeDocument/2006/relationships/notesSlide" Target="/ppt/notesSlides/notesSlide20.xml" Id="R3ce1aa71e11344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F5272-9B37-4938-9B8A-BFAF6930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DEFEA-C955-4E15-82F6-7F7B94F6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52A55-8CD4-463A-991F-963B99EA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1F303-B5E2-456D-BD53-72C2EF56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THE ARCH | RAG AND AGENTIC AI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09CBA-415D-4FCB-8C32-EACAF7B0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781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CapitalLens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8B786-F697-4268-B1CB-F07C94D3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790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Autonomous Financial Research &amp; Productivity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3A08F-7270-4C95-900B-0E8792D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Round 1 Case Study | Finance Track | Built by Sai-Vivek17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EEA947-5FE4-4DCE-BB80-6D62C647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GitHub: github.com/Sai-Vivek17/capital-lens-ai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E762A-C779-4937-A08A-D00EA947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Live demo: https://capital-lens-ai.streamlit.app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0683C-2AAB-4099-A80E-77935CC8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3258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08AAD-8CFE-46BA-A467-712D869E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10972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29213-A38B-49CC-B654-2EF3701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180" y="41338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E2A1E-2678-4A50-9C0F-AB6DD67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3905250"/>
            <a:ext cx="13258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905A1-5F41-4D1E-ACE6-0083D485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830" y="4076700"/>
            <a:ext cx="10972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C609C-6405-4CBD-A2C3-24805016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0460" y="41338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D802D-CE3B-45D1-A986-050821E1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810" y="3905250"/>
            <a:ext cx="13258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659D8-CFF4-4523-B7E1-AB1DD507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110" y="4076700"/>
            <a:ext cx="10972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Analyze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32BC7-2DF9-4D22-9DAD-FEC41BD5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740" y="41338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5984A-CEE4-41FE-BEA5-D6AAC0EF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3905250"/>
            <a:ext cx="13258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B32AC-5175-4FD9-82A1-8D8304F5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6390" y="4076700"/>
            <a:ext cx="10972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C8BCD-E11F-44EF-A361-6E6EF30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020" y="41338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35EE2-4661-4836-9F7D-BCF1030A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3905250"/>
            <a:ext cx="13258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BB653-B045-4372-821D-DECF773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670" y="4076700"/>
            <a:ext cx="10972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43619-AE29-4C98-AD18-45418920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781050"/>
            <a:ext cx="2324100" cy="466725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0F6E0B-D10C-4992-8978-5F9540E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238250"/>
            <a:ext cx="1752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A9229F-6619-4A98-908B-746513A6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478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CECA65-19E5-4D9F-B8DE-96FA4F1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Agent modules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804B15-F705-45B9-93E3-9816B6C9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47950"/>
            <a:ext cx="1752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B5084-AED2-4928-9944-AFCFCF71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575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1FE477-1A5E-4B4A-8989-B117C8F4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56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Demo companies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A77BD3-F9B2-4AA0-A21D-BA0230D4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17526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3AA254-177C-4A49-A24D-CAD4AF76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6720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Yes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5BA941-7480-4260-85F3-8B18EFF2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7053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Runs without API keys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04F30-148D-4F4C-9CB8-3D7494E5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4008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Submission PDF: max-20-slide case study for The Arch hackathon</a:t>
            </a:r>
          </a:p>
        </p:txBody>
      </p:sp>
    </p:spTree>
    <p:extLst>
      <p:ext uri="{BB962C8B-B14F-4D97-AF65-F5344CB8AC3E}">
        <p14:creationId xmlns:p14="http://schemas.microsoft.com/office/powerpoint/2010/main" val="425777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1F1F9-D644-4E20-9284-76623665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64073-E772-48BA-BDFD-959B528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DE994-0F25-4E2F-B782-BC493215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CC71E-B160-4494-B7AB-77658C79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WHY IT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FAC01-0974-47E7-8F5B-25AD6ACF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Research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8D46C-524B-4D27-B366-C4324D8C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1F7F2-DA8C-4707-A5FF-ADAAD112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02/20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AA7A6-663A-4904-BDA1-2E4568CC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Public-company research is high-stakes knowledge work, but the first pass is usually manual, fragmented, and hard to audit.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16277-BD4C-4225-BD7B-C07319EB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08C51-05EE-4952-B3B2-7D605DD1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Analysts jump between market data, filings, news, notes, and spreadsheets.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CC24D-A21F-47C6-8D45-1A765FCA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57BF7-634C-46CC-87CB-95E7A5FF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LLM-only summaries sound confident but often lose source fidelity.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6BEFA-028B-4F5B-A79C-8724ECAF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B7C6F-E092-40A6-9D4B-DF06EF3E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Students and founders need a repeatable research workflow, not a generic chatbot.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92994-6B3D-4F96-80BF-8B9A50F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3AFFD-68E8-46E3-B7B0-34D3012B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636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Finance teams need citations, risk flags, and exports that can be reviewed.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7234D-644E-438F-82D9-2A45A6F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669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349DA-FA5B-4BC6-ABCB-36AF84EA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Cited memo in minutes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EA238-ABD1-4A06-A77D-5E0B983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0330C-40AC-421C-8A2F-7B9A774F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2476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C5A46-3FFB-4852-B5FE-5154F537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019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Safe research, not advice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9EBF9-6C1E-4FC1-B247-805D1751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24300"/>
            <a:ext cx="2019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Constraint</a:t>
            </a:r>
          </a:p>
        </p:txBody>
      </p:sp>
    </p:spTree>
    <p:extLst>
      <p:ext uri="{BB962C8B-B14F-4D97-AF65-F5344CB8AC3E}">
        <p14:creationId xmlns:p14="http://schemas.microsoft.com/office/powerpoint/2010/main" val="228095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09141-4550-49D6-88F4-D0A4900D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B2959-6B64-4C55-987B-DA917A8C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546C4C-AD28-490A-8AC0-3A84A18A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F32FD-F106-43E7-8E10-D647C9BE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USER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1457A-A92C-48AC-81C0-1756A39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Target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288B6-6062-4143-A7DF-42E5BB7E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E11EB-2163-4BCA-A169-2749F69E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03/20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E3D44-A7D7-4F63-903A-CB704331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8477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CapitalLens turns scattered public-company data into a structured research memo that is fast to read, easy to cite, and safe to demo.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45484-F518-4C0C-8C12-F5F51708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87D10-7D6D-4442-9FF9-5BA601C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Equity analysts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56FB44-1F4F-4D47-AA66-6C5CFFC5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Screen and brief companies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604A2-CAC9-4CEC-BEF2-D78283F2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24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41487-6C32-4312-A7C0-E6F39007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Students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D6E288-DFB7-47FC-A50A-46D7369E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242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Learn with cited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DB03F-79C8-4C33-A5C9-D8CF329D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0A043-25E7-4634-985D-099E0D5C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908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Founders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6F046-9AE5-4888-8DCB-1607A4C8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Research competitors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86ABC-391F-41B7-AFE0-FCB910B1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2860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9A046E-5CB8-41F1-8AC9-55E3A5D5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Finance teams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5C146-5ACF-417A-A11E-0B69197D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1828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Monitor watchlists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ED2D0-BEA7-4931-BA01-97DC5D1E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552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1A3DD-5A7B-4B64-9073-95FCA9F2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95900"/>
            <a:ext cx="521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Real utility: repeatable, reviewable, exportable</a:t>
            </a:r>
          </a:p>
        </p:txBody>
      </p:sp>
    </p:spTree>
    <p:extLst>
      <p:ext uri="{BB962C8B-B14F-4D97-AF65-F5344CB8AC3E}">
        <p14:creationId xmlns:p14="http://schemas.microsoft.com/office/powerpoint/2010/main" val="226645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C9504-B281-4DEC-8179-04AE6F67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D28155-55AE-4073-B4AE-1BCE9B49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57859-446E-49E6-AD5C-BD3B74C7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B147E-B685-4A63-871C-59A7967D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DOMAIN ALIGNMENT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DD8DA-E1A7-43C1-9EA0-20CF0309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Finance Track 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F6375-E56B-42E6-B939-58404931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400A1-7B13-49E3-9940-247E25B4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04/20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57E7C-E9B9-477E-BCF5-DA26D70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system maps directly to finance workflows: company overview, financial health, recent events, risk analysis, valuation context, and watchlist monitoring.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3149D-F357-4E9B-8135-04B6DA9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CBCD1-261E-4C36-89FB-5BCD0264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Ticker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965B9-1FCC-409D-8B94-4F6CCD1B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914" y="29527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2B640-0980-4D7A-B25D-EB03AC6C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264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0D858-7CB8-4316-9D19-9FB3460A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64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Market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05D15-BF9E-40C9-A3F2-1936A98F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79" y="29527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D1856-D8BB-4573-95E8-DA94E8B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BC5CA-9F13-47D3-A864-CB1A75B8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729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Filings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773CE-5CB7-463B-A477-ADDF3A40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243" y="29527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D93FB-19B2-4043-A4C4-37A8136E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593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EEF59-89E3-4B86-8D42-EFD66543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5A5CF-552F-4305-B0AD-875C65B1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407" y="29527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25736-8D40-4AE1-8FD1-08A6EE00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757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977519-CB9B-4D03-9572-E3D06E0C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057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E3C3E-DAD9-4779-B20F-A210E5FE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571" y="29527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BF0785-4714-459A-8D13-49385F29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921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FE7D2-F9EA-4DF3-AFC3-9E091D53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221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C66E3-E2A9-4191-AABD-1E20F89D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736" y="29527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A5B73-F861-4D38-9D45-A02F91AE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086" y="27241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A78D9-83B0-45F5-AC81-B4560C2A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386" y="28956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014B2-1D54-42D1-B093-937FD0C6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D232C7-419C-4DD0-BE9C-1980B2C5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Accepts US and India tickers such as AAPL, MSFT, TSLA, RELIANCE.NS, and TCS.NS.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389CC-1CC6-4EF2-8951-5B45CBC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3080BA-5AFA-4CE7-94A2-25B08D43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Uses deterministic demo data when live data or API keys are unavailable.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38007-540C-42A9-ABB7-C0D862AF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7C90E7-3181-4F95-A156-0CF97622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625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Preserves educational and research-only safety boundaries throughout the memo.</a:t>
            </a:r>
          </a:p>
        </p:txBody>
      </p:sp>
    </p:spTree>
    <p:extLst>
      <p:ext uri="{BB962C8B-B14F-4D97-AF65-F5344CB8AC3E}">
        <p14:creationId xmlns:p14="http://schemas.microsoft.com/office/powerpoint/2010/main" val="2091176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394A42-358A-4F25-87B8-D4DFDD60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F1A58-012E-4EC4-948C-2A1C20B7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60FF1-45A9-44F3-9E4C-A366BDCE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30F10-A701-467B-87E4-DC98804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LIVE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09529-86E3-4091-BA7C-EA6E5D2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Working Product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38566-5A9E-475F-AABF-4D9EF0A0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D283C-21D9-4358-94D1-6E916A43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05/20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2A933-AC0C-4C67-B3A5-D4EC705C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Streamlit console exposes the complete agent workflow: settings, progress timeline, score cards, charts, tabs, final memo, and exports.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ddfdfa4024508"/>
          <a:stretch xmlns:a="http://schemas.openxmlformats.org/drawingml/2006/main"/>
        </p:blipFill>
        <p:spPr>
          <a:xfrm xmlns:a="http://schemas.openxmlformats.org/drawingml/2006/main">
            <a:off x="5194935" y="1428750"/>
            <a:ext cx="589788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3132C-EC0C-4765-97AD-8E4C5A9A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61912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8BD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67A24-6C87-43CE-B92A-AB2B9329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CB7A3-3319-4EFB-8172-7AAB0A73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Sidebar: ticker, mode, demo toggle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97792-E6B3-4CFA-92F3-EB6F75C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ECA55-D670-44B6-B56A-E52FB708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Tabs: overview, financials, news, risks, valuation, memo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F3BC5-6D5E-438A-AC7F-2964D07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BE20D-93EF-4A7F-9FA3-3B06672B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3486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Downloads: Markdown and PDF</a:t>
            </a:r>
          </a:p>
        </p:txBody>
      </p:sp>
    </p:spTree>
    <p:extLst>
      <p:ext uri="{BB962C8B-B14F-4D97-AF65-F5344CB8AC3E}">
        <p14:creationId xmlns:p14="http://schemas.microsoft.com/office/powerpoint/2010/main" val="1349735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1F8F7-4A52-427F-A9F1-BC3A2288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9CBE0-2B96-4749-A21E-F1A13BD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DB069-2A50-4E1D-A5BB-306BDB1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58449-200A-45F5-996A-FE69EA7A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FROM INPUT TO MEMO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EE8FF-43B0-4361-9C52-A8AC880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Autonomous Core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EEE40-281A-4992-B052-84CE5525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ACF20-A43A-4286-A583-0F85F9DA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06/20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3FA26-0B62-44B5-8F5F-41C5739D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D4C55-6C6D-4894-A64C-67AF51A1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User 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69F23-5E2B-4E3C-B24D-B42ABD1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8914" y="21145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D66A8-67B1-410F-895B-B7D13CB2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264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2E331-5747-4BF1-BA03-5060268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564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45770-C5CF-4A07-A906-1131A6C5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079" y="21145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F2C76-5259-46DB-A92E-4D0E0B24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4429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F2AA0-CFB6-489E-A928-7177B28A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729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82CEA-98A0-4894-86BD-58F924EB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243" y="21145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734E9-6FF3-4AB9-A62F-F532B821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593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29EE6-9675-441F-B71A-D1E3D04C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893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RAG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56EF0-4082-406B-AF1D-C01605E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5407" y="21145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BCA93-52DA-4F99-9D34-3737A745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757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E5C098-2726-4010-BFCC-178D274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057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761D8-73E7-400A-B192-FD3944A3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571" y="21145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0C42FB-4B2A-495E-A641-07A55BD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921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00327E-EF25-4C0E-AC07-B453FCB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221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6969D5-19DF-44D4-8425-FF143068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736" y="211455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0E798F-6D91-4CFB-AC49-0C6C656A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086" y="1885950"/>
            <a:ext cx="1379764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B7875-EB8F-4D39-9551-8757DE2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386" y="2057400"/>
            <a:ext cx="115116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3F6B92-D631-4DB4-AB1E-C5580878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user selects Quick Scan, Full Analyst Memo, or Risk-First Review. The agent decomposes the task, gathers data, retrieves evidence, scores risk, checks citation support, then produces a professional memo.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EFC744-2FBD-40E0-A31B-16DAEA79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291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F120EB-0182-4FEE-8CFE-AA250377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387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A7B6A-FDC5-454D-A534-3491D84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76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Modes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815F0-24D1-4B09-AD8D-A3648C94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291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026E71-2D63-4412-A519-13DF4565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387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Structured JSON + memo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76A34C-0133-44B1-84A0-0D6FE8E7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76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1BF08F-D773-4CB4-B2AC-CDA3D1F7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2381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8B55E6-AFE3-4C95-A9AA-89EA53A8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38700"/>
            <a:ext cx="1924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Markdown / PDF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32B2F6-6085-497B-BC6A-8B51B7AE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76850"/>
            <a:ext cx="1924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954503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C7B560-CA86-43FD-B62C-9C86004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49531-2085-4C5F-BDD4-92972F8C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D97BC-637C-447E-B6A9-68928EEE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BA2AD-85B6-44D3-8853-FB9CFCA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AGENTIC AI DEPTH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71EB-1759-4621-98DB-E6F6D65C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Multi-Agent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7D784-E423-44A4-98DD-69F098FF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2C682-1EDE-42D9-B20B-3D8F439B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07/20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E630C-B2BC-4B2F-9E61-3615A26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CapitalLens is not a single prompt wrapper. Each module owns a distinct research responsibility and exchanges typed Pydantic outputs.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1B5EF-327E-4E70-9349-DF07CAB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3589C-E89C-4851-9451-40837348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75228-E06B-4B37-B65E-F90574E6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051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E4869-3663-4D12-9BEA-7B2B7CEA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765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Market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ABC4C-2090-4385-91DB-34B884ED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688DB-AD31-458D-83A1-4E7F9613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A1522-61BF-43CD-9DEB-B1618D76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0510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51D82-02FB-41F5-822B-B3CC8E2E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765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Filing 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86291-6E63-49B6-96DE-DE09DB48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5067C-0D53-4D76-B8FF-CBD4F33F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1E024-2BCE-46DB-AAF2-48C60274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38308-53C5-48E8-9974-3A0C6151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48E0F-BEEC-4EDF-BE7C-003E6E19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671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843A2-7226-4F5D-A633-A92D292D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386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97056-2BE2-4037-8F24-AC461B28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67150"/>
            <a:ext cx="2095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3475D-25D4-4472-86FE-3E08E66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386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Critic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37429-88E5-4C05-AAC6-2524400B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9700"/>
            <a:ext cx="45339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C0F21D-76EE-4118-B4F9-97B2E13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95900"/>
            <a:ext cx="422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Orchestrated by CapitalLens research engine</a:t>
            </a:r>
          </a:p>
        </p:txBody>
      </p:sp>
    </p:spTree>
    <p:extLst>
      <p:ext uri="{BB962C8B-B14F-4D97-AF65-F5344CB8AC3E}">
        <p14:creationId xmlns:p14="http://schemas.microsoft.com/office/powerpoint/2010/main" val="17544977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7B865-16F0-4C74-A8AD-7ED5ABC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5E8FF-6B89-4205-9402-0636EB08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61696-0744-4F18-A666-2204444F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F4B98-2CA1-4D1D-AE68-429B5412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RELIABILITY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87A78-FEC4-411D-A7E2-C74B493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Durable Agent 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FA5D9-0E7D-4250-AF0C-673DA44E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9A1FE-0A06-49D8-968C-B92F32D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08/20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E255E-6213-47BE-A4BC-B5C03D63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Phase 2 adds run IDs, persisted event logs, retry-safe execution, and status transitions so every research run is observable and reviewable.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12F7A-7B7A-48C5-B400-0BCB0F15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558A6-C62F-417E-BA6C-825FF9E0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0561B-1BDF-4AF0-846F-1A555143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4770A-A750-4C19-A7E9-565E2C47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7B307-E108-450C-85F0-F563DC88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start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29036-E64A-4A0D-AEE3-AEA7710C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EE315-1EA7-4E72-AB48-DCE01C26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9F6AA-07B1-4CA2-A73F-65032415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tool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590C9-A667-4142-87D8-FC7D31EE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1EBFC-5457-4313-A24D-3C44392C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7BB98-8DEE-4EDB-BEA3-C2EBE957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retry if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033C6-2CD3-4C03-AD20-60F0A46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3FD39-0E1C-401E-ACB1-84884762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DAE49-5910-48E6-8E07-B39C8227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step 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13038B-EA3C-458A-8545-DB58E731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7BC5D-C19D-453F-9C9A-6A524B1F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6E58B-5F1F-4455-A595-35247C35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events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B80301-7E42-4C23-A947-134B1E42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132793-020C-47AA-B8E0-8A843DB3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893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DurableAgentExecutor wraps each specialized agent with configured retries.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217735-55C0-4D99-85B7-E2826B25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33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BA6132-3701-47C1-B609-C5BA71D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48200"/>
            <a:ext cx="893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GET /runs/{run_id}/events exposes planner and agent progress for UI observability.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6B49A4-D628-4274-BA66-9492C3E4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406B00-CADF-4223-8B00-2E3EB6C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24450"/>
            <a:ext cx="8934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Failures are explicit, logged, and recoverable in demo mode.</a:t>
            </a:r>
          </a:p>
        </p:txBody>
      </p:sp>
    </p:spTree>
    <p:extLst>
      <p:ext uri="{BB962C8B-B14F-4D97-AF65-F5344CB8AC3E}">
        <p14:creationId xmlns:p14="http://schemas.microsoft.com/office/powerpoint/2010/main" val="1071406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4BD86-5DC9-468F-AF01-BCDE1D53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679DC-423D-478F-8586-94DA7E80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4CD66-B690-433B-9441-D2A6DDE5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9AA86-5E03-451F-B94A-A691E6C5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TYPED CONTRACTS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F3AE8-3603-4B3D-88A1-3DEFD38B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Structured Outputs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4FCF6-BCC0-4383-87A2-5285D033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BDF1B-F897-4CAA-88D9-62BDB32C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09/20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5CEAB-AF31-42DE-A988-BCBE9A6C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Pydantic schemas make every agent output predictable: market metrics, news events, evidence chunks, risk entries, valuation ratios, report scores, and final memo metadata.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A844B-4B1E-44A3-A62F-2A024CB9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95600"/>
            <a:ext cx="17449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A3BCD-B2AB-434C-8C8C-32817991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15163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62910-34BF-475C-8B9A-2C5ACAA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780" y="31242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D01E4-31F0-4072-AA60-9CACF6F7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6130" y="2895600"/>
            <a:ext cx="17449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F571F-2832-4EF9-B0AE-815E73BE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430" y="3067050"/>
            <a:ext cx="15163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Pydantic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D2C63-9BF5-4640-B6B8-97D8D00A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1242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C7D304-1561-40E9-8571-2B79E6B1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2895600"/>
            <a:ext cx="17449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569011-C321-4E8A-B390-F8DEDF82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7810" y="3067050"/>
            <a:ext cx="15163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42410-A270-4958-8CA9-88DD45D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31242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14E8E-8221-4C9F-9173-948AC9CE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895600"/>
            <a:ext cx="17449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E55577-1628-4A8C-B46D-5799811F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067050"/>
            <a:ext cx="15163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UI/API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99A4E-221D-49F2-92E2-C93EE942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4920" y="31242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09AB2-4226-4479-8EC9-63DC324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70" y="2895600"/>
            <a:ext cx="174498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1DBF2-AC5A-44F1-AA33-1273C336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570" y="3067050"/>
            <a:ext cx="15163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DB7926-1835-48E4-AE6C-DED0C159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91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E94DA-5DC3-4AA8-93D6-35C69F1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05300"/>
            <a:ext cx="798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Reduces brittle prompt parsing and UI breakage.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0D107-564E-4D6B-AA07-363693A9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027388-91CD-4093-A75C-69E7B189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798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Allows tests to assert specific finance and RAG behavior.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4696F7-6539-406F-A899-AEDF9B62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05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870734-A843-4B3C-8FC3-DB40F90B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798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Makes missing data explicit instead of hallucinated.</a:t>
            </a:r>
          </a:p>
        </p:txBody>
      </p:sp>
    </p:spTree>
    <p:extLst>
      <p:ext uri="{BB962C8B-B14F-4D97-AF65-F5344CB8AC3E}">
        <p14:creationId xmlns:p14="http://schemas.microsoft.com/office/powerpoint/2010/main" val="12038446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FBA42-2114-411D-982F-5B71505E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DF227-6282-49F6-A858-2666FBCB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F05B-E091-4069-82B7-9F33D30E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98D58-0284-48BB-859A-FDAF7FC0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RETRIEVAL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F67AD-61E5-4F39-9563-EA4CD370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Advanced RAG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1A299-B9F9-434F-9E52-B0D751C8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561C5-DFF2-48DE-BDE4-54F73D4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10/20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CBA81-846F-466B-B733-A37C8F68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981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filing agent builds a persistent local retrieval layer over sample filings and best-effort SEC text, then retrieves evidence for business model, risks, revenue, competition, debt, and management commentary.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DFE90-94E8-4C92-8EFC-D7D75C54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E7AFF-AFAE-47D9-8236-2A32EE77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Ingest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BFA29-6005-4C41-AFE7-B7EFF2E5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8998E-902B-4E6A-8016-2FA75F63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D35C8-CBF7-4AE5-919B-E11ECE6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Chunk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C662C-FEB0-4028-AE18-53B06EC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5B91E-1456-4C2D-AE6A-24D50398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7999F-EFFA-4382-9B8D-D483A53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Embed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F3D43-B97A-4AA9-9D77-F804F3AE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02270-2BF3-44C6-9A7A-6762CEE2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5D7CD-75F5-4C55-A6CD-B325997A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Hybrid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C4460-516D-48F7-AF6E-B2B778D2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F14A9A-C055-4A99-B5A2-B3701D1E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27A4F-D30C-495C-BFF0-9DD66C7D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Rerank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8C067-0E18-4F3A-91EE-F2314A85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99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9D45E-D3D7-4EA7-817F-E3F9E541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60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A6855-A941-4B75-B24B-21B233C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952750"/>
            <a:ext cx="1371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0655B0-8BF9-4780-AE20-D9D5BB63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3F36A-AC49-44C0-AF83-A1479F3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SQLite chunks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B43AC-65C9-4E5C-BF68-BF1ED9AD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10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Index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2C743A-57EA-4347-800A-70501466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624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6EBFF-102F-4E2F-9870-AB5A7E11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BM25 + vectors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D0461-36D3-43B9-A83A-EF6B7D01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10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Retrieval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927037-B02D-40E1-8A7B-A1155690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2190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91FBD4-ED00-431E-8E45-8827E884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Citations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0D46C3-1F89-4BB5-9BF8-F17FE741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01015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Grounding</a:t>
            </a:r>
          </a:p>
        </p:txBody>
      </p:sp>
    </p:spTree>
    <p:extLst>
      <p:ext uri="{BB962C8B-B14F-4D97-AF65-F5344CB8AC3E}">
        <p14:creationId xmlns:p14="http://schemas.microsoft.com/office/powerpoint/2010/main" val="144542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D22CA-1638-43DD-B80B-49D7C99B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C10E2-191B-4810-BB0E-B5A8E973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36B14-17E0-4E3C-A6F9-E4ABFF7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B5AF7-262B-4EDC-BD3B-65AB645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HALLUCINATION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BE551-B0C5-4A95-8741-004487A4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Fidelity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48C2E-DC5D-4B1E-9749-7EA97C66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1DF11-21C1-4479-A1BC-34F22F74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11/20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823A3-5D15-4AAA-9373-F83EF3B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critic and citation audit layer checks whether the memo is grounded in retrieved evidence before the final report is shown.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A5155-87D0-4911-B783-BDEC5CA2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6A458-BF09-43EA-91DB-00C2F23F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7600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Citation coverage is measured and surfaced in report metadata.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92A93-DBFA-4C3C-9107-32BECB95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28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95D31E-68D3-4CEB-917B-61DB622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7600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Unsupported retrieval topics are flagged for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29E7F-3905-4AB8-AEA5-71D2E296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9EF70-CE59-4A3B-8CDB-A78FD832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7600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Weak claims are softened instead of overstated.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30FEE-0887-47D5-9859-765C8964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1B39A1-1338-40B6-ACF3-1B0FB20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33850"/>
            <a:ext cx="7600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final memo includes sources and a clear research disclaimer.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9479-02DE-4E76-8C6F-2567000E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095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345A8-1F25-4011-8E2B-D7AAE50E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Faithfulness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6545F-C13B-42D5-875E-9819FCAA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7665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Useful finance output only matters if judges can trace the claims.</a:t>
            </a:r>
          </a:p>
        </p:txBody>
      </p:sp>
    </p:spTree>
    <p:extLst>
      <p:ext uri="{BB962C8B-B14F-4D97-AF65-F5344CB8AC3E}">
        <p14:creationId xmlns:p14="http://schemas.microsoft.com/office/powerpoint/2010/main" val="19213392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E73D67-FAC1-4692-8A39-19010170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91968-CCF0-4B1F-B918-C8D759D8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B0FB9-F272-45D9-8CB2-1AE4BA5B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F68BD-3D3C-45A8-ABE3-65F6FFC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TOOL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CF819-68A0-4FF6-B57E-9189BDFB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Data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A3668-4E71-4258-8ED6-3A759E9E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B4E93-5424-4172-AC54-DDFEB81A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12/20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FFE9B-C4FE-4FC3-B5E2-725E21D2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CapitalLens combines live-ready data adapters with deterministic fallback data so demos remain reliable during judging.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74264-34FC-42DE-9AA4-6CDCDF0D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6033-E0B8-4F17-B4E0-D6492EE9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2890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F8BB4-924C-45F8-810B-1596034E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241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yfinance when available; demo metrics when offline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057ED-560C-4FB8-95FD-B14E6B04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Filings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C9BA2-309C-44A3-B53D-45B7671B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3375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5530B-B35C-4A1B-B1E1-CCF3DC37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SEC/EDGAR best effort plus sample filing corpus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8B298E-2D46-4210-8E96-F35BFC75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News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C24C8-AF77-4FEF-9B4E-80F82C91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3860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7682F-3A64-49DF-A67E-5EC5432A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3385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Optional provider through env variable; fallback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5631C-8CCA-4853-AC91-844CA133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Storage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CA2CC8-04EA-45C8-9E0D-65634296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7239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03BA4-CA47-4DC5-A311-3709CBA1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38700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SQLite watchlist and persistent RAG index</a:t>
            </a:r>
          </a:p>
        </p:txBody>
      </p:sp>
    </p:spTree>
    <p:extLst>
      <p:ext uri="{BB962C8B-B14F-4D97-AF65-F5344CB8AC3E}">
        <p14:creationId xmlns:p14="http://schemas.microsoft.com/office/powerpoint/2010/main" val="2452922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92830-9039-4D9C-9D30-2DFBBDA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69917-1C27-41F9-ABBC-501113F1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14481-9DDC-4F97-9154-A02B8E35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97679-CF29-480A-AEF7-AC47301E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FINANCE REASONING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3BFF1-9D0F-4AE1-854F-0660D647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Risk and Valuation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84F3D-925E-4187-BF58-9D4A2A53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5DA1F-2E8D-4B3C-AFC2-04F5746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13/20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5A1B7-D288-4F15-92F7-E9311BE9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analysis layer produces severity-scored risks, a valuation snapshot, peer context where available, and professional bull/bear framing.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0CF20-30F9-42DC-8532-22EF375D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476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780F1-8085-474F-8344-C116D00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Risk matrix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4A1BA-EE7F-4AD8-86A2-4B670D35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52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C8AED-873C-4FC5-9396-A9A8A5C4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Financial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FBF60-C805-4069-A6F3-8FC1EE4A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5D9B7-0D29-497C-9C63-DC53CE4F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9095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Business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08F58-FE78-4263-ADE4-07EB97C3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21AC1-7A50-4BCA-BBBD-F610BFA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148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125718-931E-477B-97FB-F2B1FC49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52F52-718D-4BAE-8B38-4AA1AC0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3865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Regulatory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ACD98-D870-4B33-A88E-0160EC6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27955-C0B3-42E8-B200-61457F35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625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C0822-9293-40BC-A60B-F20AFD47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44767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4DB32-DFE3-4DF3-B538-CC3FBDF7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Valuation snapshot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116F0-B833-454E-B294-7F2E2F8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52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5F052-F72F-4D43-B1F6-C11A4A7E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671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P/E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6ECC6-FEFE-43DE-8979-66B70BEE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58FC5C-0D9C-48EC-897F-5F4CFDEE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P/S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84829-A8E5-4189-963C-7770F35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1620F1-2338-496F-93C3-C9F79D04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EV/EBITDA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BAE861-F325-4158-81E1-4711D036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E35393-846B-4815-8B24-2637D72D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Peer comparison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7F5249-1103-4C99-B037-74D0F863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601EF-2965-4FBB-AEBF-6C8612C6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D8E6F3"/>
                </a:solidFill>
                <a:latin typeface="Aptos Display"/>
                <a:ea typeface="Aptos Display"/>
                <a:cs typeface="Aptos Display"/>
              </a:rPr>
              <a:t>Unavailable data disclosed</a:t>
            </a:r>
          </a:p>
        </p:txBody>
      </p:sp>
    </p:spTree>
    <p:extLst>
      <p:ext uri="{BB962C8B-B14F-4D97-AF65-F5344CB8AC3E}">
        <p14:creationId xmlns:p14="http://schemas.microsoft.com/office/powerpoint/2010/main" val="1600913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271A9B-F251-4CA5-B80F-81931C47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C5377-1F26-4EF4-B763-32A039D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6ADB3-70B6-4D4C-900E-B7FBA72A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8E02-E884-4D1A-ACC6-B4C72035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AUTONOMOUS MONITOR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3B5E2-953A-4FD7-B073-FEB858D3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Watchlist Automation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935A0-F2E7-4E8A-9E69-51A812B6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B4C3F-5285-4F72-8430-CF025F07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14/20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C72D-3819-4EE3-AA6B-0E1150E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Users can add multiple tickers and run a monitor that flags unusual changes or emerging risks with prior scan context stored locally.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6244E-933E-46BD-9077-2BF5D618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94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8773B-2C02-483E-8979-F27F6227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908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Watchlist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B1FDD-B3C2-4465-BE2B-69488692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0480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DE924-5E4C-4CA8-9FD5-B2D7CBBC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030" y="28194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BDCA8-160F-47B6-9697-F172D889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330" y="29908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4E98B-5C24-43D8-9E0C-FFE50D97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0480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D2A63-A941-4303-91FA-36CF6797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8194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72D1C-4EC3-4FC0-8CC5-A7B4D8E4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760" y="29908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73193-8915-46FB-8E7F-5051ACD7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30480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E22A1-EAA3-4DF9-9972-DFA0D69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8194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50152-23DA-45AB-8A24-3A2A643B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9908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Flag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689E1-5DB8-4107-B53B-347793B6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970" y="30480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89B2E-CA45-46F2-BF1F-DDB3E82D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320" y="28194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4449D4-A9C4-492B-AB5B-EEEE1E27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620" y="29908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7BE10-1C9C-4385-BD2D-534C162A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14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603D2-EA12-402D-93AB-A58C4388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779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Large price movement and high volatility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9AD5E-EAB1-453F-B829-C9EBF400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72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23CD03-D33B-4182-8C16-DFDE2AF5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86300"/>
            <a:ext cx="779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Negative news or risk-score increase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03452-E7FE-470F-AEC8-1D3F7944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29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028E5-E52A-4BA9-B890-92684C12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43500"/>
            <a:ext cx="7791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Weak financial trend or deteriorating signals</a:t>
            </a:r>
          </a:p>
        </p:txBody>
      </p:sp>
    </p:spTree>
    <p:extLst>
      <p:ext uri="{BB962C8B-B14F-4D97-AF65-F5344CB8AC3E}">
        <p14:creationId xmlns:p14="http://schemas.microsoft.com/office/powerpoint/2010/main" val="298462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C639C-C09A-43BE-B072-D43D827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F4A63-361F-4F5E-B221-4F43AF7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12874-F3E3-4130-9145-835A0732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A92E4-95C4-49B3-A3B3-B7F702D5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FULL-STACK PRODUCT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94F4B-A919-4F58-BF99-3E1D5B29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Demo-Friendly UX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1E40C-7A2B-437C-AF90-9D26C9E1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60391-B112-4AD8-BBC8-90A9884F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15/20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CF15D-9B39-40B2-A70C-993D4F3C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frontend is designed for a live hackathon demo: a serious finance console, not a chat box.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E0113-3105-466B-8B8D-7C6B45D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5FC88-542F-429E-9BA5-1F501A5E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874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Sidebar settings for ticker, research depth, and demo mode.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2C34E-46D5-4C06-A609-500828AC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909E6-3D3F-4000-BA4A-BF1FB822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874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Progress timeline shows each autonomous agent step.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A5FBD-9737-409C-9362-9FB97EA3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AC8A9-88F0-4F3D-BBE0-8DB039F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874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Tabs separate overview, financials, news, risks, valuation, and memo.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1D2A6-A3F4-4652-9E88-D29DA2C6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76EDEC-96B9-4A82-96D4-017034D9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874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Charts, score cards, risk matrix, Markdown download, and PDF export.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D62F7-6FC1-4CF6-8F6F-FF21CB30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57800"/>
            <a:ext cx="4762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7097E-961D-4B4C-BC92-DE10E151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34000"/>
            <a:ext cx="445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Judges can run it locally in under 5 minutes</a:t>
            </a:r>
          </a:p>
        </p:txBody>
      </p:sp>
    </p:spTree>
    <p:extLst>
      <p:ext uri="{BB962C8B-B14F-4D97-AF65-F5344CB8AC3E}">
        <p14:creationId xmlns:p14="http://schemas.microsoft.com/office/powerpoint/2010/main" val="18608205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081DF-C025-4DD6-A3F5-512A489D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296A9-BDA6-49D5-B537-AE19C3F8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73578-A2AF-4C68-B67C-DAE43AEB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6334B-BAA2-4EFF-AB74-D0AEB192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RESPONSIBLE FINANCE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D9083-3448-4626-A614-11155F39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Safety and Compliance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F3F17-8367-4E78-BAB1-674CD489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A97E3-B214-452F-AC5C-6476E5F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16/20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9AA60-9077-4EB0-8E36-CA207A0F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76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CapitalLens avoids direct trading instructions and frames outputs as research support for education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904E7-624F-4DB1-B9E5-CC7104EB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BF605-06A2-4EBC-81F0-CBD7438A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No direct buy, sell, or trade recommendations.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39737-8C19-46F5-87FC-86495F1B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1D935-AAD5-41E2-B5EF-AB6F187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Missing metrics are marked unavailable instead of guessed.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D7C69-0237-4C3B-85D8-6B88B00D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2C2918-B98D-4EB0-B678-23450D7E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Citations and source lists are included when evidence exists.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4F202-52A1-4190-B088-52EE321F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3BE73-3CF9-45C7-BEFD-45356F96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912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Final disclaimer states the system is not financial, legal, tax, or trading advice.</a:t>
            </a:r>
          </a:p>
        </p:txBody>
      </p:sp>
    </p:spTree>
    <p:extLst>
      <p:ext uri="{BB962C8B-B14F-4D97-AF65-F5344CB8AC3E}">
        <p14:creationId xmlns:p14="http://schemas.microsoft.com/office/powerpoint/2010/main" val="11098105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C55013-B66B-46CC-B576-736ECCFA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1B5E3-790E-4888-9858-075BA2E0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EC9DC-4AF6-45F8-9F29-A64A5DF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410884-1516-43AB-B0CE-7993C287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REPOSITORY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5DEEB-911D-4C4C-AE0D-4A829487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Production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FC4DB-D683-4461-9E56-0332C0F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6436C-A3F5-4DAF-83D0-15363D9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17/20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B5123-5AE8-47ED-9A9E-24AE8C74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The repository includes the engineering scaffolding judges expect from a serious full-stack Agentic RAG project.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E0E35-ABF0-4A20-AB34-1D6702D4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5B583-E992-4E33-A402-1D6DAB15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FastAPI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8FB125-FFEE-422C-96BB-A2F1909C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BAF53-CD95-429E-B772-CAA38908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Streamlit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A7A42-77D8-476A-8898-B1A6C3F0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9C7C6-C6C7-414F-8C71-4513C026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Typed schemas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3516E-B7D0-44CF-958D-B5F202A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B647D-6276-4073-8B19-0B52F474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SQLite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D01BA-C8E6-4C8A-99FB-2CB84D9E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4D97C-B324-4537-A134-96FB55F0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Docker +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16CBB-1197-4807-8EEB-5698A78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100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C6655-5B48-475A-85BF-9A923323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862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CI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8B7DA-083B-4812-8A6E-1E91716E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8E131-10D4-4423-8281-89CC7AF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862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.env.example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834AD8-4448-4DCA-B058-DFE7CFF7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095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38BD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68C39-E1D6-4755-8CA2-7F4A8140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86200"/>
            <a:ext cx="1790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Sample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FC52D-1D2A-43B0-B893-DD815DCC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1495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Verification target: pytest, backend health, demo AAPL research request, Streamlit launch, and watchlist scan.</a:t>
            </a:r>
          </a:p>
        </p:txBody>
      </p:sp>
    </p:spTree>
    <p:extLst>
      <p:ext uri="{BB962C8B-B14F-4D97-AF65-F5344CB8AC3E}">
        <p14:creationId xmlns:p14="http://schemas.microsoft.com/office/powerpoint/2010/main" val="1283623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7C91E-C853-4BCA-A927-B84238D6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3E127-BD97-4F1C-8DC8-BADD25B2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0BC0E-29E9-4B58-9F0A-E26E0455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E826A-26AA-48AE-9741-9C7523EA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NO-KEY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2FF42-660B-4394-B0BF-2F3DFB18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Demo Reliability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89B77-1BA3-45F5-B7D6-C384AD7A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C7577-1C38-4FC6-B6C2-2ED067A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18/20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C9B0F-D4F5-42FD-A57E-AEC3BD59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Hackathon judging environments are unpredictable. Demo mode ensures the product still works even without OpenAI, NewsAPI, or live market connectivity.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6D762-69F6-438E-93D3-4095DB5D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575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27598-8002-44E8-BF40-92EC1B9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289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AAPL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525A-B2D2-45F5-9A18-95D33F71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0861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4FFE1-39AE-4D62-85C7-8507D5CD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030" y="28575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8A401-0550-4E0C-BCCC-DC1AC60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330" y="30289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MSFT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903B2-8D61-4855-B832-B3D872EE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110" y="30861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E00587-2972-44C8-9B18-554978D2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4460" y="28575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20219-BFEE-4685-9B89-31C9B7AB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8760" y="30289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58C91-8A8A-4DCF-A73A-7F6E6190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540" y="30861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18444-9185-42A8-AF8E-74260F4F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28575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A07846-9B0E-4261-986D-A7CBEEB3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30289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RELIANCE.NS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727EA-E5A1-4FEE-9D6F-411113EB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970" y="3086100"/>
            <a:ext cx="133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F39E4-E245-4DDF-AB2A-BF6C25A5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320" y="2857500"/>
            <a:ext cx="176403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2243A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F36F6-74EF-4326-ADE6-9E0B3D37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620" y="3028950"/>
            <a:ext cx="15354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TCS.NS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F8213-E00D-49CA-A01B-1C733B79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438650"/>
            <a:ext cx="2247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AE8009-0C91-49BC-A61C-E57056F3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48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9 passed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B0BEC8-A9A9-4CE4-B800-934FEEC1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86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E1F51-68CF-4121-A086-3F716BD6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38650"/>
            <a:ext cx="2247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B77452-4089-4994-BFA1-8C9E73E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48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Deterministic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DB27C0-52E5-4996-ADBC-868FEFE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86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1D1ED-DBC8-4F80-9060-8C4BF95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38650"/>
            <a:ext cx="22479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9525">
            <a:solidFill>
              <a:srgbClr val="24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7FA227-1DF7-47CD-BABB-5DADF4F6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Repeatable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01F44-7705-4A7A-9C02-92E5E64A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Judging</a:t>
            </a:r>
          </a:p>
        </p:txBody>
      </p:sp>
    </p:spTree>
    <p:extLst>
      <p:ext uri="{BB962C8B-B14F-4D97-AF65-F5344CB8AC3E}">
        <p14:creationId xmlns:p14="http://schemas.microsoft.com/office/powerpoint/2010/main" val="14705681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9E1925-F103-40F9-8989-F855D7B2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4C5B5-81BC-4845-8F0D-4D317CF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D2548-3AA0-4612-8FC6-82E748BC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4943C-4571-49B2-B32B-EFD8FCE9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WHY IT 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511BC-D7AB-4A6F-9487-772D5F40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Business Impact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EFE1F-EF6B-4514-B34E-7BEFD5B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972B0-96A5-4BEE-934C-9618349A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19/20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B6228-2054-4185-A206-8B2D4F53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CapitalLens compresses the first-pass company research workflow while keeping evidence, risk, and safety visible.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8D9F9-E7F7-4599-9961-BB2E1C14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71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118DB-4561-4DD3-9C8B-463572AA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836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Analysts get a credible starting memo faster.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EBB4F-A3AD-4339-913C-936ECBA9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08323-3161-49E4-99FD-57D4EEDF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836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Students learn how to connect claims to 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D48E4-ED2F-4448-A56E-21BD5445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62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74F75-F337-4B22-BF4C-06F4354B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836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Founders can research competitors and public comparables.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B28F5-C7D4-474A-BDB6-8A84C5A0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972EF-F4B9-4D99-A6BC-0BD84836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8362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Finance teams can monitor watchlists and review alerts.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2E8B1-919F-47B4-83AC-8F9A2996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552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63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BFA4A-79CB-4B2E-B7DC-7A76054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34000"/>
            <a:ext cx="521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Clear utility + real architecture + reliable demo</a:t>
            </a:r>
          </a:p>
        </p:txBody>
      </p:sp>
    </p:spTree>
    <p:extLst>
      <p:ext uri="{BB962C8B-B14F-4D97-AF65-F5344CB8AC3E}">
        <p14:creationId xmlns:p14="http://schemas.microsoft.com/office/powerpoint/2010/main" val="2473899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AA21E-E1E3-4019-A358-FD95154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03FFC-5D06-486E-93C4-920453B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40AF7-18FF-4C83-9A79-D74BFCAD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39030-2FFF-4DC3-BE93-76889086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38BDF8"/>
                </a:solidFill>
                <a:latin typeface="Aptos Display"/>
                <a:ea typeface="Aptos Display"/>
                <a:cs typeface="Aptos Display"/>
              </a:rPr>
              <a:t>THE ARCH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DC378-A573-4018-9F4B-E55F2AD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Round 1 Submission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78CC7-3A80-4B44-94B5-EC38F91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57E3B-9013-4F8A-BD28-2DBA1BE9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CapitalLens AI | Finance Agentic RAG | 20/20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A012C-388F-488A-AB5A-E01471D7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42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CapitalLens AI is submitted as a Finance-track Agentic RAG system with a working full-stack demo, production-ready repository, and max-20-slide case study PDF.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7D007-CE06-474D-B91B-238445C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62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DBD847-7BB9-4EC8-8B22-CFCD9680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Submission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30BE3-55EA-4173-9894-4F9342F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GitHub repository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352A0-9DF9-49AF-A159-2EE885B9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github.com/Sai-Vivek17/capital-lens-ai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D43D9-DDB3-41BF-ABAD-96B17A51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demo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5481F-C625-4F5C-80A9-D9455E99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https://capital-lens-ai.streamlit.app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B7478-A022-4CC5-95C3-AE3F72F3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4095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E1B2D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08877-B16C-45E7-BECF-08186F7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Why it is submission-ready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EE2A5-1403-4E7D-AA23-D4DDF0B1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2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DA8EE-7FBD-40C2-8D5B-5750416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6710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Autonomous multi-agent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07026-75CF-4E71-A209-6AAA127C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EA8C2-8795-43D7-ABF4-195E5F01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9095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Advanced retrieval with 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EAAFA-F4E8-493A-B84A-8A73444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00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A3958-05F5-4FC6-B8C2-FE8117E4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Demo mode for no-key judging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F29AE-D0B7-47A9-8287-682A67B9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24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C48AAD-B013-4707-BCF3-754D37FC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2933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6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8E6F3"/>
                </a:solidFill>
                <a:latin typeface="Aptos"/>
                <a:ea typeface="Aptos"/>
                <a:cs typeface="Aptos"/>
              </a:rPr>
              <a:t>Safe, research-only finance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AFF7C-8491-48ED-ACBD-54052868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34D399"/>
                </a:solidFill>
                <a:latin typeface="Aptos Display"/>
                <a:ea typeface="Aptos Display"/>
                <a:cs typeface="Aptos Display"/>
              </a:rPr>
              <a:t>Author: Sai-Vivek17 | Track: Finance | Artifact: CapitalLens AI submission PDF</a:t>
            </a:r>
          </a:p>
        </p:txBody>
      </p:sp>
    </p:spTree>
    <p:extLst>
      <p:ext uri="{BB962C8B-B14F-4D97-AF65-F5344CB8AC3E}">
        <p14:creationId xmlns:p14="http://schemas.microsoft.com/office/powerpoint/2010/main" val="10416997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2026-06-21T17:38:18.7850000Z</dcterms:created>
  <dcterms:modified xsi:type="dcterms:W3CDTF">2026-06-21T17:38:18.7850000Z</dcterms:modified>
</coreProperties>
</file>