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a9c50999b74c15" /><Relationship Type="http://schemas.openxmlformats.org/officeDocument/2006/relationships/extended-properties" Target="/docProps/app.xml" Id="R3944ff9cd4ed4d71" /><Relationship Type="http://schemas.openxmlformats.org/officeDocument/2006/relationships/officeDocument" Target="/ppt/presentation.xml" Id="R16d90104dcaf41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636faff9e6450e"/>
  </p:sldMasterIdLst>
  <p:notesMasterIdLst>
    <p:notesMasterId xmlns:r="http://schemas.openxmlformats.org/officeDocument/2006/relationships" r:id="Ra0a732b28f0a42f7"/>
  </p:notesMasterIdLst>
  <p:sldIdLst>
    <p:sldId xmlns:r="http://schemas.openxmlformats.org/officeDocument/2006/relationships" id="256" r:id="R0e2fc8eab8c64b6f"/>
    <p:sldId xmlns:r="http://schemas.openxmlformats.org/officeDocument/2006/relationships" id="257" r:id="Rc39940d06c7f4f0e"/>
    <p:sldId xmlns:r="http://schemas.openxmlformats.org/officeDocument/2006/relationships" id="258" r:id="Rf2a9c61e527546e2"/>
    <p:sldId xmlns:r="http://schemas.openxmlformats.org/officeDocument/2006/relationships" id="259" r:id="R5e016f09d7104555"/>
    <p:sldId xmlns:r="http://schemas.openxmlformats.org/officeDocument/2006/relationships" id="260" r:id="R8ec4f671b5d24563"/>
    <p:sldId xmlns:r="http://schemas.openxmlformats.org/officeDocument/2006/relationships" id="261" r:id="R5cefef39059d40f9"/>
    <p:sldId xmlns:r="http://schemas.openxmlformats.org/officeDocument/2006/relationships" id="262" r:id="R40aa38a91ac34e54"/>
    <p:sldId xmlns:r="http://schemas.openxmlformats.org/officeDocument/2006/relationships" id="263" r:id="R2dd43a6229ac41e0"/>
    <p:sldId xmlns:r="http://schemas.openxmlformats.org/officeDocument/2006/relationships" id="264" r:id="R89291c5d858a4473"/>
    <p:sldId xmlns:r="http://schemas.openxmlformats.org/officeDocument/2006/relationships" id="265" r:id="Ra2a9f25e89c249d1"/>
    <p:sldId xmlns:r="http://schemas.openxmlformats.org/officeDocument/2006/relationships" id="266" r:id="R5f46be08dcd34d57"/>
    <p:sldId xmlns:r="http://schemas.openxmlformats.org/officeDocument/2006/relationships" id="267" r:id="Rd69d55db25514793"/>
    <p:sldId xmlns:r="http://schemas.openxmlformats.org/officeDocument/2006/relationships" id="268" r:id="R5c926afe50404fc2"/>
    <p:sldId xmlns:r="http://schemas.openxmlformats.org/officeDocument/2006/relationships" id="269" r:id="R3e4e4fde418248a1"/>
    <p:sldId xmlns:r="http://schemas.openxmlformats.org/officeDocument/2006/relationships" id="270" r:id="Rbff8ef268965448f"/>
    <p:sldId xmlns:r="http://schemas.openxmlformats.org/officeDocument/2006/relationships" id="271" r:id="R94397646545147af"/>
    <p:sldId xmlns:r="http://schemas.openxmlformats.org/officeDocument/2006/relationships" id="272" r:id="R0f82031371de418a"/>
    <p:sldId xmlns:r="http://schemas.openxmlformats.org/officeDocument/2006/relationships" id="273" r:id="R97bc72602a284a10"/>
    <p:sldId xmlns:r="http://schemas.openxmlformats.org/officeDocument/2006/relationships" id="274" r:id="R0aadbc53aa0645c5"/>
    <p:sldId xmlns:r="http://schemas.openxmlformats.org/officeDocument/2006/relationships" id="275" r:id="Rbd1777221f624df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9cd49f27184e40" /><Relationship Type="http://schemas.openxmlformats.org/officeDocument/2006/relationships/slideMaster" Target="/ppt/slideMasters/slideMaster1.xml" Id="Ra4636faff9e6450e" /><Relationship Type="http://schemas.openxmlformats.org/officeDocument/2006/relationships/notesMaster" Target="/ppt/notesMasters/notesMaster1.xml" Id="Ra0a732b28f0a42f7" /><Relationship Type="http://schemas.openxmlformats.org/officeDocument/2006/relationships/presProps" Target="/ppt/presProps.xml" Id="R83b79221451d42e0" /><Relationship Type="http://schemas.openxmlformats.org/officeDocument/2006/relationships/tableStyles" Target="/ppt/tableStyles.xml" Id="R61212d8479054e76" /><Relationship Type="http://schemas.openxmlformats.org/officeDocument/2006/relationships/slide" Target="/ppt/slides/slide1.xml" Id="R0e2fc8eab8c64b6f" /><Relationship Type="http://schemas.openxmlformats.org/officeDocument/2006/relationships/slide" Target="/ppt/slides/slide2.xml" Id="Rc39940d06c7f4f0e" /><Relationship Type="http://schemas.openxmlformats.org/officeDocument/2006/relationships/slide" Target="/ppt/slides/slide3.xml" Id="Rf2a9c61e527546e2" /><Relationship Type="http://schemas.openxmlformats.org/officeDocument/2006/relationships/slide" Target="/ppt/slides/slide4.xml" Id="R5e016f09d7104555" /><Relationship Type="http://schemas.openxmlformats.org/officeDocument/2006/relationships/slide" Target="/ppt/slides/slide5.xml" Id="R8ec4f671b5d24563" /><Relationship Type="http://schemas.openxmlformats.org/officeDocument/2006/relationships/slide" Target="/ppt/slides/slide6.xml" Id="R5cefef39059d40f9" /><Relationship Type="http://schemas.openxmlformats.org/officeDocument/2006/relationships/slide" Target="/ppt/slides/slide7.xml" Id="R40aa38a91ac34e54" /><Relationship Type="http://schemas.openxmlformats.org/officeDocument/2006/relationships/slide" Target="/ppt/slides/slide8.xml" Id="R2dd43a6229ac41e0" /><Relationship Type="http://schemas.openxmlformats.org/officeDocument/2006/relationships/slide" Target="/ppt/slides/slide9.xml" Id="R89291c5d858a4473" /><Relationship Type="http://schemas.openxmlformats.org/officeDocument/2006/relationships/slide" Target="/ppt/slides/slide10.xml" Id="Ra2a9f25e89c249d1" /><Relationship Type="http://schemas.openxmlformats.org/officeDocument/2006/relationships/slide" Target="/ppt/slides/slide11.xml" Id="R5f46be08dcd34d57" /><Relationship Type="http://schemas.openxmlformats.org/officeDocument/2006/relationships/slide" Target="/ppt/slides/slide12.xml" Id="Rd69d55db25514793" /><Relationship Type="http://schemas.openxmlformats.org/officeDocument/2006/relationships/slide" Target="/ppt/slides/slide13.xml" Id="R5c926afe50404fc2" /><Relationship Type="http://schemas.openxmlformats.org/officeDocument/2006/relationships/slide" Target="/ppt/slides/slide14.xml" Id="R3e4e4fde418248a1" /><Relationship Type="http://schemas.openxmlformats.org/officeDocument/2006/relationships/slide" Target="/ppt/slides/slide15.xml" Id="Rbff8ef268965448f" /><Relationship Type="http://schemas.openxmlformats.org/officeDocument/2006/relationships/slide" Target="/ppt/slides/slide16.xml" Id="R94397646545147af" /><Relationship Type="http://schemas.openxmlformats.org/officeDocument/2006/relationships/slide" Target="/ppt/slides/slide17.xml" Id="R0f82031371de418a" /><Relationship Type="http://schemas.openxmlformats.org/officeDocument/2006/relationships/slide" Target="/ppt/slides/slide18.xml" Id="R97bc72602a284a10" /><Relationship Type="http://schemas.openxmlformats.org/officeDocument/2006/relationships/slide" Target="/ppt/slides/slide19.xml" Id="R0aadbc53aa0645c5" /><Relationship Type="http://schemas.openxmlformats.org/officeDocument/2006/relationships/slide" Target="/ppt/slides/slide20.xml" Id="Rbd1777221f624d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a7ac4d380843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ec30f73faf4cf0" /><Relationship Type="http://schemas.openxmlformats.org/officeDocument/2006/relationships/notesMaster" Target="/ppt/notesMasters/notesMaster1.xml" Id="R644e699c4dae4f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fa52d3e62d419c" /><Relationship Type="http://schemas.openxmlformats.org/officeDocument/2006/relationships/notesMaster" Target="/ppt/notesMasters/notesMaster1.xml" Id="R62f39fd594db47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377e9be5164d7f" /><Relationship Type="http://schemas.openxmlformats.org/officeDocument/2006/relationships/notesMaster" Target="/ppt/notesMasters/notesMaster1.xml" Id="Rda77d0ac67c34f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81d09ba1344e56" /><Relationship Type="http://schemas.openxmlformats.org/officeDocument/2006/relationships/notesMaster" Target="/ppt/notesMasters/notesMaster1.xml" Id="R08f185cda1cc46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704febdaf046de" /><Relationship Type="http://schemas.openxmlformats.org/officeDocument/2006/relationships/notesMaster" Target="/ppt/notesMasters/notesMaster1.xml" Id="R4f015384f0f845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2f0a4f08f64f1c" /><Relationship Type="http://schemas.openxmlformats.org/officeDocument/2006/relationships/notesMaster" Target="/ppt/notesMasters/notesMaster1.xml" Id="R9a0a9a6b4fbf46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0782079de742d7" /><Relationship Type="http://schemas.openxmlformats.org/officeDocument/2006/relationships/notesMaster" Target="/ppt/notesMasters/notesMaster1.xml" Id="Rc1fe9f5e032341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1bb3c353934b7a" /><Relationship Type="http://schemas.openxmlformats.org/officeDocument/2006/relationships/notesMaster" Target="/ppt/notesMasters/notesMaster1.xml" Id="R7c5ffca703354d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93b80e08774e36" /><Relationship Type="http://schemas.openxmlformats.org/officeDocument/2006/relationships/notesMaster" Target="/ppt/notesMasters/notesMaster1.xml" Id="Rc24698d6996743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eec95ea29041d7" /><Relationship Type="http://schemas.openxmlformats.org/officeDocument/2006/relationships/notesMaster" Target="/ppt/notesMasters/notesMaster1.xml" Id="R62c710a1fa974e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502819180294731" /><Relationship Type="http://schemas.openxmlformats.org/officeDocument/2006/relationships/notesMaster" Target="/ppt/notesMasters/notesMaster1.xml" Id="R942d5b5aefda4bf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763865b1764cb2" /><Relationship Type="http://schemas.openxmlformats.org/officeDocument/2006/relationships/notesMaster" Target="/ppt/notesMasters/notesMaster1.xml" Id="R1792dbeccd8049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0bd695038f4c1d" /><Relationship Type="http://schemas.openxmlformats.org/officeDocument/2006/relationships/notesMaster" Target="/ppt/notesMasters/notesMaster1.xml" Id="R9c1d72dc0a3e49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614be86464c4ec9" /><Relationship Type="http://schemas.openxmlformats.org/officeDocument/2006/relationships/notesMaster" Target="/ppt/notesMasters/notesMaster1.xml" Id="R934c94b9864648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db8c6aeb31c45d0" /><Relationship Type="http://schemas.openxmlformats.org/officeDocument/2006/relationships/notesMaster" Target="/ppt/notesMasters/notesMaster1.xml" Id="R9a7a2b3d271143b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bd3a1d338f3471f" /><Relationship Type="http://schemas.openxmlformats.org/officeDocument/2006/relationships/notesMaster" Target="/ppt/notesMasters/notesMaster1.xml" Id="R5f03dd7c7825493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a7449ac43ee46a7" /><Relationship Type="http://schemas.openxmlformats.org/officeDocument/2006/relationships/notesMaster" Target="/ppt/notesMasters/notesMaster1.xml" Id="R4c3a09c1182e471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cdc303285184146" /><Relationship Type="http://schemas.openxmlformats.org/officeDocument/2006/relationships/notesMaster" Target="/ppt/notesMasters/notesMaster1.xml" Id="R4a6ee6d598424f5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ef2442c4a714059" /><Relationship Type="http://schemas.openxmlformats.org/officeDocument/2006/relationships/notesMaster" Target="/ppt/notesMasters/notesMaster1.xml" Id="R69f4420b27764e7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5544ee5de384e95" /><Relationship Type="http://schemas.openxmlformats.org/officeDocument/2006/relationships/notesMaster" Target="/ppt/notesMasters/notesMaster1.xml" Id="R2c2c6ca53bf442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84dfed65b341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f432b846b44e96" /><Relationship Type="http://schemas.openxmlformats.org/officeDocument/2006/relationships/slideLayout" Target="/ppt/slideLayouts/slideLayout1.xml" Id="R39d4cfdb5ed24e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d4cfdb5ed24e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c7ec73a8c4381" /><Relationship Type="http://schemas.openxmlformats.org/officeDocument/2006/relationships/notesSlide" Target="/ppt/notesSlides/notesSlide1.xml" Id="Re4ede95a0d2e4c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3748839de4aca" /><Relationship Type="http://schemas.openxmlformats.org/officeDocument/2006/relationships/notesSlide" Target="/ppt/notesSlides/notesSlide2.xml" Id="R82d7eed67ad144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a81b139b94222" /><Relationship Type="http://schemas.openxmlformats.org/officeDocument/2006/relationships/notesSlide" Target="/ppt/notesSlides/notesSlide3.xml" Id="Rc81e249ab5e44c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6b27c9875410d" /><Relationship Type="http://schemas.openxmlformats.org/officeDocument/2006/relationships/notesSlide" Target="/ppt/notesSlides/notesSlide4.xml" Id="R6db2c5b7391148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86d6d07844be1" /><Relationship Type="http://schemas.openxmlformats.org/officeDocument/2006/relationships/image" Target="/ppt/media/image.jpeg" Id="R59103d763d8d406c" /><Relationship Type="http://schemas.openxmlformats.org/officeDocument/2006/relationships/notesSlide" Target="/ppt/notesSlides/notesSlide5.xml" Id="Rdb046fdba8a14c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eac328db34515" /><Relationship Type="http://schemas.openxmlformats.org/officeDocument/2006/relationships/notesSlide" Target="/ppt/notesSlides/notesSlide6.xml" Id="R0dbf82ec1d9247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c7cbba4164cf5" /><Relationship Type="http://schemas.openxmlformats.org/officeDocument/2006/relationships/notesSlide" Target="/ppt/notesSlides/notesSlide7.xml" Id="Ra4cfddcbb2904f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bd4ee8e7f45ce" /><Relationship Type="http://schemas.openxmlformats.org/officeDocument/2006/relationships/notesSlide" Target="/ppt/notesSlides/notesSlide8.xml" Id="Rbec67c764aee4e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3de1a87fb4666" /><Relationship Type="http://schemas.openxmlformats.org/officeDocument/2006/relationships/notesSlide" Target="/ppt/notesSlides/notesSlide9.xml" Id="R3dd9800db7c144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a49bf2e1443f9" /><Relationship Type="http://schemas.openxmlformats.org/officeDocument/2006/relationships/notesSlide" Target="/ppt/notesSlides/notesSlide10.xml" Id="Rb543123267d543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55dca2fea4b41" /><Relationship Type="http://schemas.openxmlformats.org/officeDocument/2006/relationships/notesSlide" Target="/ppt/notesSlides/notesSlide11.xml" Id="R567652d55ee442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f2dd9a98e4782" /><Relationship Type="http://schemas.openxmlformats.org/officeDocument/2006/relationships/notesSlide" Target="/ppt/notesSlides/notesSlide12.xml" Id="R624c658abc984ca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432029ba94588" /><Relationship Type="http://schemas.openxmlformats.org/officeDocument/2006/relationships/notesSlide" Target="/ppt/notesSlides/notesSlide13.xml" Id="R5404e7694b844aa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df8a758474a98" /><Relationship Type="http://schemas.openxmlformats.org/officeDocument/2006/relationships/notesSlide" Target="/ppt/notesSlides/notesSlide14.xml" Id="Rea186ce7f5a6407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10483d9494d2c" /><Relationship Type="http://schemas.openxmlformats.org/officeDocument/2006/relationships/notesSlide" Target="/ppt/notesSlides/notesSlide15.xml" Id="R7b8ad4c2fe304fe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79351855e4023" /><Relationship Type="http://schemas.openxmlformats.org/officeDocument/2006/relationships/notesSlide" Target="/ppt/notesSlides/notesSlide16.xml" Id="R1a2e491cf3ca4ac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f6c5d82f24c1c" /><Relationship Type="http://schemas.openxmlformats.org/officeDocument/2006/relationships/notesSlide" Target="/ppt/notesSlides/notesSlide17.xml" Id="R9c1ccdefbaf44f0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176f2e0614600" /><Relationship Type="http://schemas.openxmlformats.org/officeDocument/2006/relationships/notesSlide" Target="/ppt/notesSlides/notesSlide18.xml" Id="R95ac2453088f45f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e214c75f142eb" /><Relationship Type="http://schemas.openxmlformats.org/officeDocument/2006/relationships/notesSlide" Target="/ppt/notesSlides/notesSlide19.xml" Id="Rc7e2b85ee77a4ae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f6e87db434a24" /><Relationship Type="http://schemas.openxmlformats.org/officeDocument/2006/relationships/notesSlide" Target="/ppt/notesSlides/notesSlide20.xml" Id="Rae0d9a71fdaf46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C13C33-BF5D-4767-84A4-8DB66D13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171A4-DFE6-49B3-AA35-CAC5E875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8F131-A9C6-4E62-8A2B-F1165260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48166-828B-425E-90F1-3874E62E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THE ARCH | RAG AND AGENTIC AI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2B2E3-5367-47A4-B79C-2A85E3BA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66850"/>
            <a:ext cx="7810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CapitalLens 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A8559-BCCB-41EF-A6EB-89B257C1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7905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Autonomous Financial Research &amp; Productivity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F79F1-2262-47CC-A026-E415BAC7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Finance track submission by Sai-Vivek17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A6E545-875D-48CF-9781-4BA07C18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13258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2D52E-7987-4D8C-AD4E-9D507BFF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76700"/>
            <a:ext cx="10972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5824D-43A0-49A9-8D5B-D2116C3A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180" y="41338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B141CF-7FD3-4D09-80FA-F48FE5CC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5530" y="3905250"/>
            <a:ext cx="13258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3E63E4-2ECB-467A-8BC8-B276BAE7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4076700"/>
            <a:ext cx="10972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Retrieve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1E7922-356E-4C36-B4F0-B28A0B0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0460" y="41338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9A575-3F8C-4DC4-A8FF-B4B53E12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810" y="3905250"/>
            <a:ext cx="13258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A986EF-4C61-4875-91B1-D7004F1D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110" y="4076700"/>
            <a:ext cx="10972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Analyze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50A16-8711-4CAE-812B-615F67D2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41338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61EBD-77B5-4BDE-B334-F4C1B238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2090" y="3905250"/>
            <a:ext cx="13258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16A622-5D75-46FD-9330-A2785AF8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390" y="4076700"/>
            <a:ext cx="10972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D62C4B-50B7-4560-B20A-2F57542F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7020" y="41338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E03204-9F67-4316-B616-E095775D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3905250"/>
            <a:ext cx="13258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54898-0F55-47CF-9A62-932E587C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670" y="4076700"/>
            <a:ext cx="10972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Export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E38F99-3952-49E5-BE26-FBF0B56C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781050"/>
            <a:ext cx="2324100" cy="466725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84BDA8-B8C4-466C-A82D-5710C56B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238250"/>
            <a:ext cx="17526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6E0527-2B3F-4007-B809-BBA7A73C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44780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630DB9-3595-49CE-8F34-DBED257D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8595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Agent modules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6360E2-3EA0-4319-8994-E5D6550C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47950"/>
            <a:ext cx="17526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CB5EA4-FA3E-4B47-A1DD-2DC68BB5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5750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788688-0BD4-4A33-9725-E2E2AB03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9565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Demo companies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13316B-06D7-4345-A3CE-A82B6A15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17526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595C0C-846A-484D-ABF4-F32FDEB1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6720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Yes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CC289B-027D-41DE-9C6E-6813F567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70535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Runs without API keys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4E5528-6FE9-4571-B4F7-B73CAE83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40080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Max-20-slide case study</a:t>
            </a:r>
          </a:p>
        </p:txBody>
      </p:sp>
    </p:spTree>
    <p:extLst>
      <p:ext uri="{BB962C8B-B14F-4D97-AF65-F5344CB8AC3E}">
        <p14:creationId xmlns:p14="http://schemas.microsoft.com/office/powerpoint/2010/main" val="14801027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78CB3D-58F6-4232-B027-83D2810C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B4E4B-77AE-4293-B1CD-EA410BE0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23484C-F5BF-47C1-B69E-7EC54F88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A22B4-41CF-4B38-9F58-EF8A511F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WHY IT MATTERS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60643-2B5C-42F6-BDF2-B70CF072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Research 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7BBED3-C2B7-4030-83A6-F81016A6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7980E-07A0-402B-8198-B9FF3403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02/20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70C5FA-5D89-4A2B-B8A2-2E00901F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742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Public-company research is high-stakes knowledge work, but the first pass is usually manual, fragmented, and hard to audit.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22344-9784-4D3D-A4D4-D7E5940E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527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57400-AD30-4D00-AC71-3FD0C42D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67000"/>
            <a:ext cx="6362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Analysts jump between market data, filings, news, notes, and spreadsheets.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FBD46E-E5CC-458D-BAF8-619392EF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79F13C-912E-4000-9A7C-21EB5EBD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62300"/>
            <a:ext cx="6362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LLM-only summaries sound confident but often lose source fidelity.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2DF9A-88E3-4C40-9580-B785015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433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F08CB0-ADF4-4A5D-8E61-284E6497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57600"/>
            <a:ext cx="6362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Students and founders need a repeatable research workflow, not a generic chatbot.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B387C8-BBED-4AE8-958A-1264DD3A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386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46CD45-85DF-4AA1-9D09-09DEF411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52900"/>
            <a:ext cx="6362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Finance teams need citations, risk flags, and exports that can be reviewed.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0E36C5-4E09-4880-B249-4393AE0D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66900"/>
            <a:ext cx="2476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3D32-9247-4061-A6F2-D8379AEE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76450"/>
            <a:ext cx="2019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Cited memo in minutes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92F46B-0A51-4392-810F-14D3CEC4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1460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56664C-6F54-4C72-B2DD-807237EE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76600"/>
            <a:ext cx="2476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D53538-240E-411C-BF12-8320DD61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2019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Safe research, not advice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CE9BDF-3074-41BA-A1DF-07690461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2430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Constraint</a:t>
            </a:r>
          </a:p>
        </p:txBody>
      </p:sp>
    </p:spTree>
    <p:extLst>
      <p:ext uri="{BB962C8B-B14F-4D97-AF65-F5344CB8AC3E}">
        <p14:creationId xmlns:p14="http://schemas.microsoft.com/office/powerpoint/2010/main" val="10728826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4683F1-37C2-48A6-AAB9-447DBA52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3BC1A6-9C11-499D-9DA8-67331CD9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60440-B097-44B2-AF10-0B9BC186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DE945-0377-4990-A073-3510B448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USER VALUE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6E5AE-C6F9-432B-88BB-A5EE24E5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Target Users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7EB35-84FF-4340-881A-06602B61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6F84C0-AFAA-4C08-9C7B-D05F1A75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03/20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7EC77-CC75-4E18-84BF-9E9511BF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477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CapitalLens turns scattered public-company data into a structured research memo that is fast to read, easy to cite, and safe to demo.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331DB-ABCF-4A72-A51D-B4260600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286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BE9AC6-D7A8-4074-AEA2-09F19A32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Equity analysts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7DE9F-1BB2-4EC3-95DA-6B76A3BC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828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Screen and brief companies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2223F0-A790-4E9B-8E2B-C59AC7B1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24150"/>
            <a:ext cx="2286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3A49D8-568A-4825-8564-289E9BB2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908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Students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C6F0E-B1B4-41A8-A0A9-A55FE305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24250"/>
            <a:ext cx="1828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Learn with cited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321FFC-53DD-42A5-AFF3-4708B36C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24150"/>
            <a:ext cx="2286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8335D-E213-4CD5-82CA-ED54ADB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Founders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A04DC8-7594-4BE4-91F7-B697A7862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24250"/>
            <a:ext cx="1828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Research competitors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6E1C18-7F2F-429E-AADC-31AB4B82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24150"/>
            <a:ext cx="2286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A568B0-45CD-427D-8F35-0E9688B6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Finance teams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F7936A-AA77-48A4-98BD-31154B09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24250"/>
            <a:ext cx="1828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Monitor watchlists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A60868-3E43-4A33-83B3-584131BF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19700"/>
            <a:ext cx="5524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9AC3C0-C78A-4DFF-9EF0-EA3CE0A1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95900"/>
            <a:ext cx="521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Real utility: repeatable, reviewable, exportable</a:t>
            </a:r>
          </a:p>
        </p:txBody>
      </p:sp>
    </p:spTree>
    <p:extLst>
      <p:ext uri="{BB962C8B-B14F-4D97-AF65-F5344CB8AC3E}">
        <p14:creationId xmlns:p14="http://schemas.microsoft.com/office/powerpoint/2010/main" val="1830458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930418-83FF-4A13-AA8E-30214DA1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FBF8D2-B501-414D-8913-68EDBCDB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8595C6-AC71-48A9-B671-05645C39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DCDD1-1667-4653-8EE5-0C4D38D7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DOMAIN ALIGNMENT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D1BA04-AC34-4D1A-82AE-9F60F240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Finance Track Fit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5C6124-FBAA-4239-8393-51501C5B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EF6DD-0CAC-41A9-9C49-E42270A0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04/20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D2EB58-E7F3-4E1B-93D2-7ABDECE1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system maps directly to finance workflows: company overview, financial health, recent events, risk analysis, valuation context, and watchlist monitoring.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ABBD8B-8B10-480F-8495-D4DE31C5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F32613-87CF-4AD8-BB0D-A2952A35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Ticker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D4F612-AE28-4682-8E9C-10D5F721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914" y="29527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7CD5A3-B9B8-4D1A-8DB8-3A8D5F74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264" y="27241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B31585-B8EA-4086-A650-C4A0DF63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6564" y="28956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Market 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853F8D-BF10-49F8-8B1E-8AACA924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1079" y="29527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A55FD-AC9B-4AEE-9524-A655F47C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4429" y="27241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BC086E-4F5C-43D4-B464-B0218CF9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729" y="28956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Filings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3672A3-904B-43A9-ABAD-2A38F7DF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243" y="29527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5EF18-2727-4D88-B988-23D9D240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593" y="27241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71D9BB-0BE6-493E-9E32-66E0A8BB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0893" y="28956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News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1639D3-FB38-4866-B435-C414D672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5407" y="29527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96D2A4-39CB-45B9-8830-309D19D8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8757" y="27241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4116EA-C1CD-4939-9030-6A8AB119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3057" y="28956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F94C10-1BA0-4EE3-A53B-43218F8A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571" y="29527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16FFBD-B228-402F-BAB5-427448EA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0921" y="27241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74F26E-4091-4800-BB51-BDC72182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5221" y="28956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Valuation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227064-E35F-41F8-8F3A-BF6F73F8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9736" y="29527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A1A30A-DAA4-4C2C-8BC6-53996D8E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3086" y="27241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B2EC64-BB07-44A3-B339-CE653ABB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7386" y="28956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Memo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E01FC8-015B-4F36-B5D3-AB64EF9D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57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B9E2B3-8F65-4DA6-B998-BC749F9E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71950"/>
            <a:ext cx="912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Accepts US and India tickers such as AAPL, MSFT, TSLA, RELIANCE.NS, and TCS.NS.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20309D-8E8C-43F2-917B-B03DDA0C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AEA821-D01F-46DB-AA9B-5C3BF418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912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Uses deterministic demo data when live data or API keys are unavailable.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C0EBFF-F782-4AE3-BD27-C399F7CA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48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CD463F-CFC1-4092-B82F-5611A4E9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162550"/>
            <a:ext cx="912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Preserves educational and research-only safety boundaries throughout the memo.</a:t>
            </a:r>
          </a:p>
        </p:txBody>
      </p:sp>
    </p:spTree>
    <p:extLst>
      <p:ext uri="{BB962C8B-B14F-4D97-AF65-F5344CB8AC3E}">
        <p14:creationId xmlns:p14="http://schemas.microsoft.com/office/powerpoint/2010/main" val="13587816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F5F18-03ED-4592-9A2E-A2397F71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23B8C-6256-4E40-904E-B07D0C66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C6CC8-92AC-445F-96F1-8AA91198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499F6-5DC6-40ED-AC83-2DEEBD82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LIVE 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C88C69-E3A3-418A-99CF-07FAFBC9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Working Product Snapshot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12542-E54B-49DC-8EE3-5E4FF60C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FC5CB-0872-44B6-9B81-F72F5C00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05/20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85BCEA-E9F5-4C26-9FAD-11F48C96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095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Streamlit console exposes the complete agent workflow: settings, progress timeline, score cards, charts, tabs, final memo, and exports.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03d763d8d406c"/>
          <a:stretch xmlns:a="http://schemas.openxmlformats.org/drawingml/2006/main"/>
        </p:blipFill>
        <p:spPr>
          <a:xfrm xmlns:a="http://schemas.openxmlformats.org/drawingml/2006/main">
            <a:off x="5194935" y="1428750"/>
            <a:ext cx="5897880" cy="4095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E90DC-B1B0-4892-84B2-34951933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428750"/>
            <a:ext cx="619125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38BD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8DEC38-7B61-4E2F-B0C6-0B31D298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908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4100E5-2D6E-4183-B505-E9E969A5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3486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Sidebar: ticker, mode, demo toggle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31018-C839-4E9E-99D4-811EA209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29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2D071-3420-4BD5-A189-1CB255B5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3486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Tabs: overview, financials, news, risks, valuation, memo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F46D6-0F58-4717-ACFB-3319218A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671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B4B964-E39B-4474-9B1D-DD07DCAD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81450"/>
            <a:ext cx="3486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Downloads: Markdown and PDF</a:t>
            </a:r>
          </a:p>
        </p:txBody>
      </p:sp>
    </p:spTree>
    <p:extLst>
      <p:ext uri="{BB962C8B-B14F-4D97-AF65-F5344CB8AC3E}">
        <p14:creationId xmlns:p14="http://schemas.microsoft.com/office/powerpoint/2010/main" val="3862736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F1A48D-1DF2-4B6D-A1DA-11234613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40D92-D968-41F8-B9AC-A8739B8A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FE2F9-7A84-4AB5-A9BB-83F4FDF7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94C8F-42ED-43C1-AEFA-464334B6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FROM INPUT TO MEMO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91E1D-F174-4873-8F2E-DEC6626D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Autonomous Core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DB2D8-D5E4-484C-B4A5-3054A4AB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3A8571-87C3-4478-9D68-DEC475B3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06/20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84DE12-F112-42A3-B1EA-1CC93CE4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AB16D-08E3-49D6-9223-3234EAE2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User query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AE7BFB-F5C5-40C2-8EDD-3E1D6A87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914" y="21145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A17278-CA15-4CCE-8996-EF24F5E3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264" y="18859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D11805-3B32-46C8-A6BF-0C767942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6564" y="20574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Planner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9E608-4329-4CFB-BCF9-DFDEE744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1079" y="21145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94DDD-891A-451A-9092-C5A4E6A4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4429" y="18859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89042A-5FAF-4C2B-82AF-62B338D5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729" y="20574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Tools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135C72-7ED2-48A1-A367-45032677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243" y="21145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6DEFE-48A4-4897-863B-59A6BBAF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593" y="18859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44C380-6D3D-4E31-AD3C-80D06AC7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0893" y="20574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RAG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3195C6-8C48-449B-98AB-769FC78F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5407" y="21145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5AB660-3487-47BC-BE56-67ADEE15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8757" y="18859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B3D4BA-AF3D-41CE-B827-ABBE05F2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3057" y="20574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Scores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D2DD6E-1F54-45A8-BAEE-E6591997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571" y="21145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70561D-53A0-455B-BF69-C8601F5A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0921" y="18859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22C432-3982-400D-8470-D04D9C48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5221" y="20574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Critic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6DD658-F0C1-4F06-8766-A8F54ECF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9736" y="211455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045A46-EA6D-4140-BEF1-FCB58C41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3086" y="1885950"/>
            <a:ext cx="1379764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EA9044-30E3-4F62-B915-9D4F81CC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7386" y="2057400"/>
            <a:ext cx="1151164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Memo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57DCFB-17A7-448B-8F10-CC4A1ED6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00400"/>
            <a:ext cx="990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user selects Quick Scan, Full Analyst Memo, or Risk-First Review. The agent decomposes the task, gathers data, retrieves evidence, scores risk, checks citation support, then produces a professional memo.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EE5703-C384-48EF-B21C-5BE0EFD7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291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D2EA5F-6C51-4962-A5D5-F8203145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838700"/>
            <a:ext cx="1924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F86F0F-BCA8-42D1-8B5C-3CCAF5E8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276850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Modes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4E6790-25C5-4CF0-BBB6-4655343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6291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03B5C7-A5F0-49FF-B8FC-77A5764C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38700"/>
            <a:ext cx="1924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Structured JSON + memo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DFFA89-A1C3-436E-9B50-E930DB5D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276850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Outputs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29879E-A9AE-4056-A368-D8133648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291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2EA0F0-3C15-434A-BCD4-FD397FC3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38700"/>
            <a:ext cx="1924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Markdown / PDF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AB4D5F-E251-455A-A3CB-77C95167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76850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</p:spTree>
    <p:extLst>
      <p:ext uri="{BB962C8B-B14F-4D97-AF65-F5344CB8AC3E}">
        <p14:creationId xmlns:p14="http://schemas.microsoft.com/office/powerpoint/2010/main" val="10536481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990E21-32EE-49AB-90E0-41F12FB3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B6E18-163B-4562-8BB1-0F711FF3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EF3D8-D184-4E07-AB2C-AECCC2B8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EC16B0-DA3B-45D9-B942-4D7158AA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AGENTIC AI DEPTH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35CC4F-5DB8-4BC0-9919-5EBD7F4E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Multi-Agent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7E36AC-1290-4316-82BC-D4180179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2CA14-2516-4EDD-9085-B28C720D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07/20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8B172-7D4C-407D-8BCD-161BD9B3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CapitalLens is not a single prompt wrapper. Each module owns a distinct research responsibility and exchanges typed Pydantic outputs.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8B9D15-3697-477A-BA4E-D4C95160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95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7699DA-EBFC-4E90-9C76-281452C5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765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Planner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20D84-007D-4C95-88E0-92E77BDD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05100"/>
            <a:ext cx="2095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756B9D-B8D9-462B-8C73-3DBDD3B4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765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Market 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95052-850A-40A8-9B82-719AFE09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095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607FB1-EFD6-4544-B9FA-CD1634FA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News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3338E-EFC9-44FD-B3A6-C6B5B7B3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05100"/>
            <a:ext cx="2095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A5A5CF-0B36-4E45-9E4D-91C1A754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Filing RAG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AB878D-E4C9-49CB-9BCB-B4027E02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2095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E24E9B-CBA2-452E-A65F-76E383D4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386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ED3B55-C37F-4A17-91A1-476F2DD8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67150"/>
            <a:ext cx="2095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88C24A-514A-4FB4-9C91-468EDEAA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386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Valuation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B7BFD8-B56F-41B9-9EF4-5AA77369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67150"/>
            <a:ext cx="2095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B89124-133E-4F2B-8CBB-46C12BD2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386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Report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CD2ADA-137D-48C4-98B6-4386D151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67150"/>
            <a:ext cx="2095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4156D6-F00C-4C09-AAFD-98F51761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386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Critic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C22764-6E09-4D54-9B89-38C23C2E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219700"/>
            <a:ext cx="45339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C83A51-030F-4C9D-8CF4-8888628B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295900"/>
            <a:ext cx="422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Orchestrated by CapitalLens research engine</a:t>
            </a:r>
          </a:p>
        </p:txBody>
      </p:sp>
    </p:spTree>
    <p:extLst>
      <p:ext uri="{BB962C8B-B14F-4D97-AF65-F5344CB8AC3E}">
        <p14:creationId xmlns:p14="http://schemas.microsoft.com/office/powerpoint/2010/main" val="1601969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8605B3-5E2A-48A1-B446-B35D1709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4895BB-7C8E-428C-81B7-784B343D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5C03C-80E7-4FF8-AC59-2DB47692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FAC11B-7EC7-4A71-8242-FBBD7B5B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RELIABILITY LAYER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FE8B3-6AE5-4D01-A3E9-B6AD6AC3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Durable Agent Execution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D8C475-8F21-446A-B0C3-98AC6E15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4C2342-EAC3-4ECB-95CE-43AF15AF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08/20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FFE177-247B-4F4C-9D10-989A7D22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Phase 2 adds run IDs, persisted event logs, retry-safe execution, and status transitions so every research run is observable and reviewable.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DEE8C-F5BC-4E8B-8088-9434C19B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2540E8-EE4A-4DD1-8E0B-14BB0C57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run_id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B391F-F0AF-4AD7-9043-AB01EFFE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C522D2-D08D-4920-9890-E49A645B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FC05B3-2E77-4A81-A63C-9FECB2E3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step start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AA87A-11D6-43C4-9AC3-C92A6F88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3D6B52-BE06-4814-B6AF-91E8C361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D193FE-8EB9-4BED-826D-554E43AB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tool call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4477A-E46C-45AB-8614-56A66C94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637CE8-3928-4EB9-8CFF-7D8916F8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0093F-AC95-43B6-81A6-6DCC8005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retry if needed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064773-573B-41C2-8FD2-0DE8E1EF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6356A0-734F-4FE8-BFA2-55E0F7F1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E56DFB-B200-4FEF-B418-FFDA0B2E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step complete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38D4C8-BACD-49BE-ADDC-61D36F06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DFC697-ECD5-442F-9A20-523F80AE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B21F44-65FC-4190-9620-ADE1760C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events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FD3308-8981-4EC9-B5BF-C0F27273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57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E9DB8E-0B61-495A-A864-51813338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893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DurableAgentExecutor wraps each specialized agent with configured retries.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393D69-B1C8-4C56-8DB0-7B2FED04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33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9D5427-09C9-4D84-A50C-D4F69323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48200"/>
            <a:ext cx="893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GET /runs/{run_id}/events exposes planner and agent progress for UI observability.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0D123A-862E-4931-858B-4271A391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01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6C4F42-434F-4F2A-AFD2-03ADBCD2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24450"/>
            <a:ext cx="893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Failures are explicit, logged, and recoverable in demo mode.</a:t>
            </a:r>
          </a:p>
        </p:txBody>
      </p:sp>
    </p:spTree>
    <p:extLst>
      <p:ext uri="{BB962C8B-B14F-4D97-AF65-F5344CB8AC3E}">
        <p14:creationId xmlns:p14="http://schemas.microsoft.com/office/powerpoint/2010/main" val="17210484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8AC340-9521-43B0-9F7B-B95EB1A2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92BF09-6C7E-41A7-AB31-F76BBC00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8A1B8C-5DA1-44D1-B482-C2AC47AB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3D93BB-415F-4EC1-9DE2-B2951FC1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TYPED CONTRACTS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29EE3-58E2-4035-A0C6-2E072D81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Structured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37B58B-688E-4B93-B556-6F3DE7BE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ABE024-1C8F-4FF4-AEEF-53289B71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09/20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050A7-1D46-475E-99F5-4127F7E3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715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Pydantic schemas make every agent output predictable: market metrics, news events, evidence chunks, risk entries, valuation ratios, report scores, and final memo metadata.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7CC777-52B4-448A-B5D3-4CAE6A2B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95600"/>
            <a:ext cx="17449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3CF004-32A3-470B-8111-FB722617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67050"/>
            <a:ext cx="15163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Agent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B77BB-D7F2-4C10-A547-ADCF6872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2780" y="31242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38967-24BE-4C0F-B746-0CD0D9FE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130" y="2895600"/>
            <a:ext cx="17449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1E8100-D39C-418B-A3EE-AA8F7087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430" y="3067050"/>
            <a:ext cx="15163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Pydantic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0FA1B9-630D-4D29-85EF-72A2286C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31242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9954B-2C60-4A6C-A86E-D4784853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510" y="2895600"/>
            <a:ext cx="17449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1BC03-C8A5-4F21-8F87-B24A54A9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10" y="3067050"/>
            <a:ext cx="15163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6159D6-D703-4BEB-941C-6E6276FB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7540" y="31242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6F9D57-A7F8-4697-8BE8-CDD4F892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0890" y="2895600"/>
            <a:ext cx="17449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006B99-25AA-4614-B96C-C8194870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190" y="3067050"/>
            <a:ext cx="15163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UI/API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07FED7-FFD7-46CF-A4F5-EDEA10C8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31242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72CB7C-1B4D-42CA-9D30-4BFB74D0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270" y="2895600"/>
            <a:ext cx="174498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57F8C5-F1A8-40BE-88F7-97CF4D01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2570" y="3067050"/>
            <a:ext cx="151638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DB8B68-E9F8-44DA-851B-AE82EFE7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91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30A59F-9BEB-400C-A381-1863B4C9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305300"/>
            <a:ext cx="7981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Reduces brittle prompt parsing and UI breakage.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086EC5-59E1-4900-A4D6-F0F62320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482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B9812D-0F3E-4E9B-864B-BAE2D612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762500"/>
            <a:ext cx="7981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Allows tests to assert specific finance and RAG behavior.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FC4E94-32BB-4D3B-A72A-2E0386BA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054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E82A61-D833-4AA4-B28D-2CBF0E6D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19700"/>
            <a:ext cx="7981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Makes missing data explicit instead of hallucinated.</a:t>
            </a:r>
          </a:p>
        </p:txBody>
      </p:sp>
    </p:spTree>
    <p:extLst>
      <p:ext uri="{BB962C8B-B14F-4D97-AF65-F5344CB8AC3E}">
        <p14:creationId xmlns:p14="http://schemas.microsoft.com/office/powerpoint/2010/main" val="19271757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289801-3AA8-4E98-9CDB-E40F3653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28B824-B96B-4BAB-91A6-FFEF7FD1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715DA-4A03-4E55-B23E-AC7D959A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0FD6FC-EFAB-4452-A2D8-7783470B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RETRIEVAL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89BDD-E2FA-4B45-96D8-35AEBE84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Advanced RAG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6F4B6D-431B-4812-BAB6-B0E1B7C2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17A1E5-A445-45C6-8CB2-34DAAA39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10/20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7C7BE-AE0F-449E-8137-0EF8C7A6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981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filing agent builds a persistent local retrieval layer over sample filings and best-effort SEC text, then retrieves evidence for business model, risks, revenue, competition, debt, and management commentary.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09E4A3-86F3-4383-BC27-447994F6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E4DCA-607D-44EB-827B-2A4E2DB7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Ingest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20B632-A3DA-4CC6-9ACC-6A051CFA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AE1AC3-E1E6-450D-8F28-5956842B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4E6058-1B2E-4B00-B3F9-B95316D5E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Chunk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41A22-8079-4481-AA66-C5F1FFD1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C99300-E2B3-484D-9CE8-8D9A1450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552886-01F7-4259-AEF0-D0AEBB96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Embed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FCA397-0682-451C-909B-7C99CCE8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EB6785-0413-4F5D-B670-1CDC6BA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776138-4235-46A0-B3E7-7373F0B8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Hybrid 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F0F997-7B16-450E-8B66-07193C8A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451DC1-6B94-459C-8EF0-C8D01C71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387D14-B29D-45D7-9BE4-CD1C09ED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Rerank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E00121-97AA-4E2A-A420-428C9EA0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0099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0D9CB7-8304-4571-A546-85941C4D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781300"/>
            <a:ext cx="1600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91935E-F7EE-471D-88AE-A91F7870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952750"/>
            <a:ext cx="137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Cite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0BC34D-FA0B-471C-B433-9175832B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62450"/>
            <a:ext cx="2190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9D6606-C6A1-44C2-88E6-DDADF9C3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SQLite chunks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C26C83-2008-4D84-B982-9F40DF7C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010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Index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DF50A0-15B4-43AB-924D-CF08671A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62450"/>
            <a:ext cx="2190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34A8AF-21BE-4856-AED2-840F6458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7200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BM25 + vectors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E0388F-AEAC-47DB-B84F-81D90345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10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Retrieval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2BE9EF-79DC-41DA-9F01-DE94786C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62450"/>
            <a:ext cx="2190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A9D411-0872-49D7-94DE-B0BE7998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57200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Citations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A67F4A-3E65-421B-AE02-74462839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010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Grounding</a:t>
            </a:r>
          </a:p>
        </p:txBody>
      </p:sp>
    </p:spTree>
    <p:extLst>
      <p:ext uri="{BB962C8B-B14F-4D97-AF65-F5344CB8AC3E}">
        <p14:creationId xmlns:p14="http://schemas.microsoft.com/office/powerpoint/2010/main" val="21267243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D4884F-D0F9-463C-999E-62F1AEC8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13995-11E3-4325-828D-E4A31D39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34CCF-40F3-4CDA-945C-86C5B6E5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5E7FD-4D36-4A1D-8B02-D1034C56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HALLUCINATION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B7420-F8A8-4703-B868-3142E7F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Source Fidelity Controls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1CD2D-4D35-478C-BC87-A0271644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FDD660-196D-498E-8021-C651AEAF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11/20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364DA7-E14D-433D-BCAA-AA80D1A5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763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critic and citation audit layer checks whether the memo is grounded in retrieved evidence before the final report is shown.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734DB-306C-4281-BA92-FB0617C4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33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02DC8-7EA6-4ABF-ACEF-E573202A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47950"/>
            <a:ext cx="7600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Citation coverage is measured and surfaced in report metadata.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7A2767-7F0F-49BD-9F3B-890AC7BB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289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3BEDE5-3000-45E5-BDA2-9DF1CD92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7600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Unsupported retrieval topics are flagged for review.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F235C9-57E9-4C91-9DC0-401191AF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24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C72BC-438D-4BA6-ACD5-BA4D5F68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38550"/>
            <a:ext cx="7600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Weak claims are softened instead of overstated.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A00F55-6364-4223-83E4-2C9426AD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95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412324-CF83-4764-B729-7F4CB50C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33850"/>
            <a:ext cx="7600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final memo includes sources and a clear research disclaimer.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EFE4C4-F6EA-4B44-A0C9-473B577B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76550"/>
            <a:ext cx="20955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19050">
            <a:solidFill>
              <a:srgbClr val="34D39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74B1C-5CCE-4494-97F3-C8FE3625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43250"/>
            <a:ext cx="1562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Faithfulness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1E7D3E-7F0E-49FC-A96C-1B4DF361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1562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Useful finance output only matters if judges can trace the claims.</a:t>
            </a:r>
          </a:p>
        </p:txBody>
      </p:sp>
    </p:spTree>
    <p:extLst>
      <p:ext uri="{BB962C8B-B14F-4D97-AF65-F5344CB8AC3E}">
        <p14:creationId xmlns:p14="http://schemas.microsoft.com/office/powerpoint/2010/main" val="13722554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8D20A8-C1A6-4021-B8C0-69CF9B2F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27864-071B-4A26-9A07-5F92318B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F83510-E692-4A0A-8530-FB1D91C1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93D8EA-FDCC-47AA-A99E-C10C66D5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TOOL USE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A3736-DA57-4879-AEA0-5AE31E16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Data Sources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8606B-192E-4912-9198-9004C9E3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56E57-875D-421C-B67C-EEBF9BBB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12/20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512EFD-FFD6-418E-9F4D-6BD49E43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57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CapitalLens combines live-ready data adapters with deterministic fallback data so demos remain reliable during judging.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60B4C1-EE8D-45DB-A70D-05EF5129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60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Market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B45719-9848-4BAC-B395-F4B90166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28900"/>
            <a:ext cx="72390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CF975-16D9-4EBC-88E9-BD40B6DC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241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yfinance when available; demo metrics when offline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ED651B-24AF-4AE9-B2BA-CB9C5671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Filings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03E5FB-8CE9-400B-B66E-73D72DD0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333750"/>
            <a:ext cx="72390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8B6E1B-45ED-4785-8A23-2A94461A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290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SEC/EDGAR best effort plus sample filing corpus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1D96EE-7821-4B94-9D6E-F9672407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957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News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D13F65-773D-4555-ABEA-4BF59FA7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038600"/>
            <a:ext cx="72390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7377C4-68E2-44CE-8B9A-D2B0D470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338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Optional provider through env variable; fallback events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84B6B0-1DAB-4BAD-B42B-B17A0CDF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006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Storage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E4EDD5-1CD9-4C68-8780-1AE78D6D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72390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8541FB-5A5C-48BE-A04E-15CB4A07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387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SQLite watchlist and persistent RAG index</a:t>
            </a:r>
          </a:p>
        </p:txBody>
      </p:sp>
    </p:spTree>
    <p:extLst>
      <p:ext uri="{BB962C8B-B14F-4D97-AF65-F5344CB8AC3E}">
        <p14:creationId xmlns:p14="http://schemas.microsoft.com/office/powerpoint/2010/main" val="12074423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69EC76-1BF1-45DF-A1C9-57381512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5F22D-3784-4F57-AD11-694BC373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E3001A-A8D5-4BCF-AA27-6834C0DA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B66E0-8E14-429D-8EE9-9F94DF36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FINANCE REASONING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27887-C417-4CA9-80F1-FA49D2A8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Risk and Valuation Intelligence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3BA5DB-5CFB-4B45-8D79-F172AAB3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39894-AB24-4F33-8B1C-FB8EA8A2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13/20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2A1751-E6E4-4641-A24D-5B3C4056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analysis layer produces severity-scored risks, a valuation snapshot, peer context where available, and professional bull/bear framing.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184F3-86E3-4BF3-BB48-E577922C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44767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C8BE5-E7F0-4974-AC5E-A137CAF6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Risk matrix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D2CF9-3830-4D36-AB47-4EEC1D0A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528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A437AF-5CBF-4F8F-B897-AE2BB26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6710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Financial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ACBA80-F32E-4709-8782-A80226BE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76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43D06-6E96-45B4-A92B-BD97438B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9095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Business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6A898A-78AD-4D5B-8BEA-5D245C29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005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DF3F54-B28D-4157-ACB8-F93572CF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1480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Market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845B5-E865-49FD-A0AE-9C1B04B8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243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A1BB2E-4BF0-4C01-BA64-EF405160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3865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Regulatory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20896F-D014-4094-A05D-F1083879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482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F16BD5-BCD2-4D2C-A6A2-26021BE9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6250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Execution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C0546F-B218-4961-AD9D-EFD2EFD2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86050"/>
            <a:ext cx="44767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31A047-9509-40AF-91FB-E664A630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5275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Valuation snapshot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0D6888-1DC2-4F93-B23D-AC7CAC38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528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F56937-6357-450F-A8A7-2AB67A2A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6710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P/E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DE4004-3907-460A-A3BB-9365FB30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76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34B098-EC5C-4D59-87A0-E59F7ABB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P/S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0F10A4-7CB2-4F49-AA5A-5733B538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005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18C8C1-462D-4B66-ABF8-65AFB2F3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1480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EV/EBITDA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31DDC6-46B8-4C74-A995-4371936E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243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EA408F-A064-484A-B6D8-B4089DE3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3865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Peer comparison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F075EA-5857-46A3-8919-BB1929D4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482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AE0AD4-37F4-4E07-B2D2-F4F66EEE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62500"/>
            <a:ext cx="3219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8E6F3"/>
                </a:solidFill>
                <a:latin typeface="Aptos Display"/>
                <a:ea typeface="Aptos Display"/>
                <a:cs typeface="Aptos Display"/>
              </a:rPr>
              <a:t>Unavailable data disclosed</a:t>
            </a:r>
          </a:p>
        </p:txBody>
      </p:sp>
    </p:spTree>
    <p:extLst>
      <p:ext uri="{BB962C8B-B14F-4D97-AF65-F5344CB8AC3E}">
        <p14:creationId xmlns:p14="http://schemas.microsoft.com/office/powerpoint/2010/main" val="20073870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D3C28F-349C-4FBB-8189-35A71AAF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1F7FD-C122-48CE-9982-4946C708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353DCA-3201-40C0-9CE3-FB2ACE16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073DC-CF05-4A80-BAB3-D7E50B2A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AUTONOMOUS MONITOR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64FB5-1BEF-4BFD-A594-0A942059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Watchlist Automation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986DA-5F01-4F48-B5CC-8B7554C6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F39D2-76E5-48E2-B054-6A80C6E0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14/20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26D0F-1BF1-4A0A-888B-7F7FBD68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Users can add multiple tickers and run a monitor that flags unusual changes or emerging risks with prior scan context stored locally.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DC9D07-52B4-4F47-A823-FADA75C8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194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9BC9E6-189B-408F-A650-484BE7B9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908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Watchlist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7B5AA-D22E-4D99-8146-8E5633E3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0480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9EDCDF-11BC-4DDF-AFE5-BE7F4656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030" y="28194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257DE-4EEE-4DA3-B953-38A490B7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330" y="29908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Scan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505F6-00AB-47DF-ABF2-67478C4A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1110" y="30480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4A1132-C56F-4886-8073-C3E6DDB8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4460" y="28194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4AF30E-CD1C-43D8-9843-14152954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8760" y="29908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742753-1903-4C34-8AF9-4AC4DDAA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7540" y="30480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4E076D-9707-45AD-9E23-15D26E85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0890" y="28194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D90B3-285E-4AFF-A898-EB07507B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190" y="29908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Flag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13B0EC-1B9F-4F22-BA2D-165CD8C1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3970" y="30480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B6987F-CF12-47BB-B887-E7050328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7320" y="28194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F285A7-E971-4AC1-86FF-4BBEAFBC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1620" y="29908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E3A16A-345B-41ED-9324-DEAC0E65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148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901D36-1E78-4437-B57A-D0D94E6F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29100"/>
            <a:ext cx="7791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Large price movement and high volatility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F3CFA2-48DF-4EED-A99A-EFCFAC60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72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4FBC83-A70C-41AC-B2A2-CA701D4B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86300"/>
            <a:ext cx="7791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Negative news or risk-score increase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D66168-450B-4962-8F10-AABD66B3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292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615BB4-CC54-4810-94C7-FC324A30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43500"/>
            <a:ext cx="7791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Weak financial trend or deteriorating signals</a:t>
            </a:r>
          </a:p>
        </p:txBody>
      </p:sp>
    </p:spTree>
    <p:extLst>
      <p:ext uri="{BB962C8B-B14F-4D97-AF65-F5344CB8AC3E}">
        <p14:creationId xmlns:p14="http://schemas.microsoft.com/office/powerpoint/2010/main" val="15362710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379C4E-29E0-4C34-829F-A8DD2DAC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D1CA97-FCFF-411C-80D7-4FC95711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51C7E-26E1-4998-810C-2240F6AD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D1C56-5820-4B70-817C-E82EB3C2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FULL-STACK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7179A3-BD8B-40A7-A8CF-1D39529E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Demo-Friendly UX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22A23-C09F-44C6-B97E-2AF20022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382B93-6C26-48BB-AC21-AF113D1F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15/20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DBDD14-3AD7-40CE-9396-23806BF5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57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frontend is designed for a live hackathon demo: a serious finance console, not a chat box.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0B453-FA6A-4A52-A1F6-53AF8C60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2E158A-C2B4-41B0-A796-A389B644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874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Sidebar settings for ticker, research depth, and demo mode.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17A3C4-CB2B-4F54-A354-68F83F24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670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D51680-2F05-49C6-8845-D9F4BF1E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81350"/>
            <a:ext cx="874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Progress timeline shows each autonomous agent step.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5853FC-0878-43DB-AAB3-ECEC2E41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623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2AB189-D41C-4D3F-BF5D-EB9AD1A9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76650"/>
            <a:ext cx="874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Tabs separate overview, financials, news, risks, valuation, and memo.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8C70ED-7D93-4CC0-945E-40EEAAEA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57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65C076-BF27-4D63-A6C7-9900275C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874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Charts, score cards, risk matrix, Markdown download, and PDF export.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C3481B-6F13-4BA9-94B8-D57414E2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257800"/>
            <a:ext cx="4762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FEB1FA-D5A5-4CD2-A614-9F25F5B3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334000"/>
            <a:ext cx="445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Judges can run it locally in under 5 minutes</a:t>
            </a:r>
          </a:p>
        </p:txBody>
      </p:sp>
    </p:spTree>
    <p:extLst>
      <p:ext uri="{BB962C8B-B14F-4D97-AF65-F5344CB8AC3E}">
        <p14:creationId xmlns:p14="http://schemas.microsoft.com/office/powerpoint/2010/main" val="3196703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D4A27E-40C3-4228-AC26-728634E4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ECE34-3C3F-4C58-AF40-269A01EB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EEF380-17FC-4263-8132-9FF9C8BC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18CA79-EFA3-49CC-A9FA-71929C18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RESPONSIBLE FINANCE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963EB0-9104-4DCB-8E61-341A1063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Safety and Compliance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ED36D-4EFC-44ED-8B79-3FF530B1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7B0FAA-3F0F-4FF7-A9ED-ED0574FE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16/20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7EF170-5ED5-4D62-BA59-C08FC9E6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763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CapitalLens avoids direct trading instructions and frames outputs as research support for education and review.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B0AFF1-9B57-4B3E-8BBA-9743CE3B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826D52-5EFE-466E-887F-4FB93C8B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912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No direct buy, sell, or trade recommendations.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FEE3E2-2A37-43AB-885C-4BE1A176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670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EA079A-CA12-444C-88B9-2AF07D56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81350"/>
            <a:ext cx="912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Missing metrics are marked unavailable instead of guessed.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204FD7-9B8C-49F3-8EE4-618FF64E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623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86F909-EBD0-412B-9FBC-44B6EE13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76650"/>
            <a:ext cx="912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Citations and source lists are included when evidence exists.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0357E1-6D22-4FEB-8818-55124204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57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EA5BB5-B55A-419E-A601-2D927FFD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912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Final disclaimer states the system is not financial, legal, tax, or trading advice.</a:t>
            </a:r>
          </a:p>
        </p:txBody>
      </p:sp>
    </p:spTree>
    <p:extLst>
      <p:ext uri="{BB962C8B-B14F-4D97-AF65-F5344CB8AC3E}">
        <p14:creationId xmlns:p14="http://schemas.microsoft.com/office/powerpoint/2010/main" val="79250046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BC5268-4BB1-4354-B014-9FA5FCCB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53EA6-43B8-4142-89E0-D4303223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DF6FB8-3E22-4B15-AC1F-E2689B95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B12F4-A54B-4119-8B46-44A207E1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REPOSITORY QUALITY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5D7A5-F2E0-464E-BCB0-A4674B23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Production Readiness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002BB-5B0A-47EB-9A7D-608AD578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376FB7-1C98-49C4-8451-FAC5D901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17/20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3142BA-0A4A-43B0-B6DD-87F2EF03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repository includes the engineering scaffolding judges expect from a serious full-stack Agentic RAG project.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E2119-3E83-4C82-9E0A-2CE9442C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81300"/>
            <a:ext cx="2095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44D814-1255-4108-8CEA-DB6DE3FA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575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FastAPI backend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475523-DCDF-4B70-BFD1-3FC3E2F4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81300"/>
            <a:ext cx="2095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C7058A-33AE-4D38-87DA-581C6F7D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8575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Streamlit frontend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C02185-29D9-47C4-90F8-3BB7C0AF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81300"/>
            <a:ext cx="2095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09B688-434B-4095-9D8A-4DFC385A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575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Typed schemas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B1D731-2E24-446A-A636-0AA8F73F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81300"/>
            <a:ext cx="2095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812878-B763-4243-8713-37C220F5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575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SQLite storage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4F819C-D8A3-49D0-A208-34793BB8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10000"/>
            <a:ext cx="2095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31170C-65AA-4E75-B5FD-C5B02847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862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+ Compose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BC662B-E927-4E18-A10B-B6450030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0000"/>
            <a:ext cx="2095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002E25-361B-4B65-8E91-73138B9E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862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CI tests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887470-0BA8-45C6-AA0E-F497EEAB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10000"/>
            <a:ext cx="2095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C13BD7-572F-47C7-BDAE-A65BEC0A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862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.env.example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6900F0-C998-4A4B-B10C-1885F502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10000"/>
            <a:ext cx="2095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837196-1B95-43BB-AC61-1F420C4E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862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Sample reports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4EC792-C402-4E4E-8E46-CD7129D6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14950"/>
            <a:ext cx="914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Verification target: pytest, backend health, demo AAPL research request, Streamlit launch, and watchlist scan.</a:t>
            </a:r>
          </a:p>
        </p:txBody>
      </p:sp>
    </p:spTree>
    <p:extLst>
      <p:ext uri="{BB962C8B-B14F-4D97-AF65-F5344CB8AC3E}">
        <p14:creationId xmlns:p14="http://schemas.microsoft.com/office/powerpoint/2010/main" val="1797049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A49CF5-E573-4D44-BF9A-9396EEE3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CFF75-C488-4D38-B6CC-83D78957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7C7335-CA53-4980-BC0A-7265A27B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6CC1B9-D819-4C92-A5CB-6707C483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NO-KEY EXECUTION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56E3C-A8B4-4BA6-A1FE-F676A846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Demo Reliability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0BF5A3-1738-4EA6-BF4E-13E310D7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838678-EF12-4D50-ADB4-50A5DFAA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18/20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D253F-BD85-4C17-A4BF-9073C5E9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52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Hackathon judging environments are unpredictable. Demo mode ensures the product still works even without OpenAI, NewsAPI, or live market connectivity.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5F1865-9DA2-4783-BBBA-280F4502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575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ECEE9D-228B-4899-A90A-EBDC7158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0289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AAPL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587BD0-96D2-44B9-8EC7-5C6C65CE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0861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909E25-4797-4BD8-8FD9-E9DE0699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030" y="28575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12B375-1448-44D4-A1A5-53AF8E37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330" y="30289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MSFT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187C7D-D0AA-4FFF-B066-90EFB6CF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1110" y="30861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91404D-BDFC-499F-9C24-618CEEC7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4460" y="28575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46808-FB14-4D69-B36D-05BD1A50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8760" y="30289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TSLA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9E589-ED59-4BCA-95BF-783AA9DC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7540" y="30861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843206-3B9B-48AD-8737-F66B71CD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0890" y="28575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A7C7A9-C19A-4F26-BC3D-26A4403E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190" y="30289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RELIANCE.NS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330E25-5B9D-4881-8DB3-E623A728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3970" y="3086100"/>
            <a:ext cx="133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F0C31C-573F-4C3C-A9CF-9272EEDA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7320" y="2857500"/>
            <a:ext cx="176403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16A39A-030B-447B-828C-CEB7F8A8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1620" y="3028950"/>
            <a:ext cx="153543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TCS.NS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9492B6-C3E7-42C8-B2F5-B065F275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438650"/>
            <a:ext cx="22479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7A981D-48EA-450A-92D8-7CBFC4E8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64820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9 passed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A154F7-4C40-4007-93F5-2CD17B3F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8635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6B9B42-D24E-4EAC-907B-F95D5C7F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38650"/>
            <a:ext cx="22479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A24C49-7946-4883-8586-940D371E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4820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Deterministic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B368FD-D3D6-43F5-B461-1F0208ED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8635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Fallback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E4D9DE-6288-4E8C-A049-D4CBA11D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38650"/>
            <a:ext cx="22479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957D74-E30D-40EA-B32F-E775F462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4820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Repeatable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4CDCEC-0CB3-4660-B909-ED7DB0FF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8635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Judging</a:t>
            </a:r>
          </a:p>
        </p:txBody>
      </p:sp>
    </p:spTree>
    <p:extLst>
      <p:ext uri="{BB962C8B-B14F-4D97-AF65-F5344CB8AC3E}">
        <p14:creationId xmlns:p14="http://schemas.microsoft.com/office/powerpoint/2010/main" val="70716931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0BC34A-5741-4446-9016-B114ADF9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ACCBA0-4BCC-4F4D-8B63-823CE323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27A44A-E3EE-4EEB-A11B-3F49EABC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47F41-04A7-44C7-95F0-70DFC20D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WHY IT WINS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7AAC7-FCD7-4626-BEAA-A66B9DD3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Business Impact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0FF888-3C1B-4309-9327-6D194ABC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E7221-269D-4E2F-B2D9-217EB9E6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19/20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3E5782-FEBB-49F6-B80D-D48BD0F1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57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CapitalLens compresses the first-pass company research workflow while keeping evidence, risk, and safety visible.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E40C15-8BC2-4993-BC35-86515CB1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DC7153-CFD5-4529-940B-D7E550F9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836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Analysts get a credible starting memo faster.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E4FC5-E62B-4843-97C5-436FCBD6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670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774574-423D-4DC5-8FBA-79FB37BE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81350"/>
            <a:ext cx="836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Students learn how to connect claims to sources.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999013-F4B9-4CA5-8F78-7525EFB1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623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FFD8CE-E67D-49EE-91AC-AAAB6AFD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76650"/>
            <a:ext cx="836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Founders can research competitors and public comparables.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D42755-6F19-441B-A95B-CB48D865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57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B6F81C-AFE7-4430-A072-A1D62D63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836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Finance teams can monitor watchlists and review alerts.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DA1540-685A-463A-BD9D-6C474BBE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57800"/>
            <a:ext cx="55245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A850D-38CD-43C8-9779-78A9E790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334000"/>
            <a:ext cx="521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Clear utility + real architecture + reliable demo</a:t>
            </a:r>
          </a:p>
        </p:txBody>
      </p:sp>
    </p:spTree>
    <p:extLst>
      <p:ext uri="{BB962C8B-B14F-4D97-AF65-F5344CB8AC3E}">
        <p14:creationId xmlns:p14="http://schemas.microsoft.com/office/powerpoint/2010/main" val="209557010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74F0F1-6E3F-48CE-874D-B3B16B87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DE676-C25C-46DC-9B60-5EA1B717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B538EB-DD8E-4837-8D85-C7D8BEBB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B85827-358E-4BEC-9834-46E66FE8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8BDF8"/>
                </a:solidFill>
                <a:latin typeface="Aptos Display"/>
                <a:ea typeface="Aptos Display"/>
                <a:cs typeface="Aptos Display"/>
              </a:rPr>
              <a:t>NEXT STEPS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45977-E904-4555-AEE8-61872F78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Roadmap and Submission 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18190-E577-4DBB-BA49-5975705A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4FCC9-466B-4EFD-A730-93B33791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3C8"/>
                </a:solidFill>
                <a:latin typeface="Aptos"/>
                <a:ea typeface="Aptos"/>
                <a:cs typeface="Aptos"/>
              </a:rPr>
              <a:t>CapitalLens AI | Finance Agentic RAG | 20/20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6A1A01-D063-4098-92AA-AFE3FF25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The current project is a working local product. The next phase turns it into a hosted, team-ready finance research platform.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411E9D-8C01-47A2-9FC7-014F71CD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C5302-22B6-445F-A341-0C4B3C39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9315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Managed vector DB or Chroma Cloud with source freshness scoring.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C83EAA-0E61-43C6-B071-8091F91C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48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9DFDF9-241F-4F8F-9758-9226FC20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9315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Deeper SEC/XBRL ingestion, richer peer discovery, and DCF scenarios.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C0E304-5ECE-4DB0-B604-98B97F77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FA316-C371-436C-A79E-337FF497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38550"/>
            <a:ext cx="9315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Auth, scheduled scans, Slack/email alerts, and team workspaces.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6E7779-94E0-4DC4-B4AC-D24F275F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E00073-2802-470D-8DCE-266DA906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14800"/>
            <a:ext cx="9315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6F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6F3"/>
                </a:solidFill>
                <a:latin typeface="Aptos"/>
                <a:ea typeface="Aptos"/>
                <a:cs typeface="Aptos"/>
              </a:rPr>
              <a:t>Observability dashboards, benchmark suites, and faithfulness evaluation.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5EFD90-5C51-46FC-9F5A-4B61ADEA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340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CapitalLens AI: a finance-track Agentic RAG system built for real-world research productivity.</a:t>
            </a:r>
          </a:p>
        </p:txBody>
      </p:sp>
    </p:spTree>
    <p:extLst>
      <p:ext uri="{BB962C8B-B14F-4D97-AF65-F5344CB8AC3E}">
        <p14:creationId xmlns:p14="http://schemas.microsoft.com/office/powerpoint/2010/main" val="2732238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2026-06-21T17:18:36.3180000Z</dcterms:created>
  <dcterms:modified xsi:type="dcterms:W3CDTF">2026-06-21T17:18:36.3190000Z</dcterms:modified>
</coreProperties>
</file>